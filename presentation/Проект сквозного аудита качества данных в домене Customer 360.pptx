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300" r:id="rId10"/>
    <p:sldId id="262" r:id="rId11"/>
    <p:sldId id="299" r:id="rId12"/>
    <p:sldId id="263" r:id="rId13"/>
    <p:sldId id="264" r:id="rId14"/>
    <p:sldId id="265" r:id="rId15"/>
    <p:sldId id="266" r:id="rId16"/>
    <p:sldId id="290" r:id="rId17"/>
    <p:sldId id="298" r:id="rId18"/>
  </p:sldIdLst>
  <p:sldSz cx="9144000" cy="5143500" type="screen16x9"/>
  <p:notesSz cx="6858000" cy="9144000"/>
  <p:embeddedFontLst>
    <p:embeddedFont>
      <p:font typeface="Roboto Medium" panose="020B0604020202020204" charset="0"/>
      <p:regular r:id="rId20"/>
      <p:bold r:id="rId21"/>
      <p:italic r:id="rId22"/>
      <p:boldItalic r:id="rId23"/>
    </p:embeddedFont>
    <p:embeddedFont>
      <p:font typeface="Roboto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A2813C-73D9-4D50-8B73-B82EC4B9FD58}">
  <a:tblStyle styleId="{29A2813C-73D9-4D50-8B73-B82EC4B9FD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88" y="-104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971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897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205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ru-RU" sz="45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Сквозной аудит 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качества данных в домене </a:t>
            </a:r>
            <a:r>
              <a:rPr lang="ru-RU" sz="45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r>
              <a:rPr lang="ru-RU" sz="45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360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81618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n-US" sz="1900" dirty="0" smtClean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 </a:t>
            </a: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Quality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ru-RU" sz="2800" b="0" dirty="0" smtClean="0"/>
              <a:t>С</a:t>
            </a:r>
            <a:r>
              <a:rPr lang="ru-RU" sz="2800" b="0" dirty="0" smtClean="0"/>
              <a:t>квозной аудит </a:t>
            </a:r>
            <a:r>
              <a:rPr lang="ru-RU" sz="2800" b="0" dirty="0"/>
              <a:t>качества данных в домене </a:t>
            </a:r>
            <a:r>
              <a:rPr lang="ru-RU" sz="2800" b="0" dirty="0" err="1"/>
              <a:t>Customer</a:t>
            </a:r>
            <a:r>
              <a:rPr lang="ru-RU" sz="2800" b="0" dirty="0"/>
              <a:t> 360</a:t>
            </a:r>
            <a:r>
              <a:rPr lang="ru-RU" sz="2800" dirty="0"/>
              <a:t/>
            </a:r>
            <a:br>
              <a:rPr lang="ru-RU" sz="28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958418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Воздвиженская Людмила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ИТ-лидер команды разработки </a:t>
            </a:r>
            <a:r>
              <a:rPr lang="en-US" sz="1300" dirty="0" smtClean="0">
                <a:latin typeface="Roboto Medium"/>
                <a:ea typeface="Roboto Medium"/>
                <a:cs typeface="Roboto Medium"/>
                <a:sym typeface="Roboto Medium"/>
              </a:rPr>
              <a:t>ML-</a:t>
            </a:r>
            <a:r>
              <a:rPr lang="ru-RU" sz="1300" dirty="0" smtClean="0">
                <a:latin typeface="Roboto Medium"/>
                <a:ea typeface="Roboto Medium"/>
                <a:cs typeface="Roboto Medium"/>
                <a:sym typeface="Roboto Medium"/>
              </a:rPr>
              <a:t>моделей для </a:t>
            </a:r>
            <a:r>
              <a:rPr lang="en-US" sz="1300" dirty="0" smtClean="0">
                <a:latin typeface="Roboto Medium"/>
                <a:ea typeface="Roboto Medium"/>
                <a:cs typeface="Roboto Medium"/>
                <a:sym typeface="Roboto Medium"/>
              </a:rPr>
              <a:t>CRM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51" y="1786054"/>
            <a:ext cx="2444208" cy="2332647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765356120"/>
              </p:ext>
            </p:extLst>
          </p:nvPr>
        </p:nvGraphicFramePr>
        <p:xfrm>
          <a:off x="952500" y="2302376"/>
          <a:ext cx="7239000" cy="3187042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4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Провести профилирование данных и выявить ключевые проблемы (дубликаты клиентов, аномалии платежей, пропуски адресов доставки).</a:t>
                      </a:r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Создать реестр бизнес-правил проверки и автоматизировать их выполнение через </a:t>
                      </a:r>
                      <a:r>
                        <a:rPr lang="ru-RU" dirty="0" err="1" smtClean="0"/>
                        <a:t>Soda</a:t>
                      </a:r>
                      <a:r>
                        <a:rPr lang="ru-RU" dirty="0" smtClean="0"/>
                        <a:t> </a:t>
                      </a:r>
                      <a:r>
                        <a:rPr lang="ru-RU" dirty="0" err="1" smtClean="0"/>
                        <a:t>Core</a:t>
                      </a:r>
                      <a:r>
                        <a:rPr lang="ru-RU" dirty="0" smtClean="0"/>
                        <a:t>.</a:t>
                      </a:r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Разработать DQ-</a:t>
                      </a:r>
                      <a:r>
                        <a:rPr lang="ru-RU" dirty="0" err="1" smtClean="0"/>
                        <a:t>пайплайн</a:t>
                      </a:r>
                      <a:r>
                        <a:rPr lang="ru-RU" dirty="0" smtClean="0"/>
                        <a:t> на </a:t>
                      </a:r>
                      <a:r>
                        <a:rPr lang="ru-RU" dirty="0" err="1" smtClean="0"/>
                        <a:t>Python</a:t>
                      </a:r>
                      <a:r>
                        <a:rPr lang="ru-RU" dirty="0" smtClean="0"/>
                        <a:t>/</a:t>
                      </a:r>
                      <a:r>
                        <a:rPr lang="ru-RU" dirty="0" err="1" smtClean="0"/>
                        <a:t>Airflow</a:t>
                      </a:r>
                      <a:r>
                        <a:rPr lang="ru-RU" dirty="0" smtClean="0"/>
                        <a:t> и интегрировать его в ETL-процессы.</a:t>
                      </a:r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2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ru-RU" dirty="0" smtClean="0"/>
                        <a:t>Спроектировать </a:t>
                      </a:r>
                      <a:r>
                        <a:rPr lang="ru-RU" dirty="0" err="1" smtClean="0"/>
                        <a:t>дашборды</a:t>
                      </a:r>
                      <a:r>
                        <a:rPr lang="ru-RU" dirty="0" smtClean="0"/>
                        <a:t> для бизнеса и инженеров.</a:t>
                      </a:r>
                      <a:endParaRPr lang="en-US" dirty="0" smtClean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dirty="0" smtClean="0"/>
                        <a:t>Оценить </a:t>
                      </a:r>
                      <a:r>
                        <a:rPr lang="en-US" dirty="0" smtClean="0"/>
                        <a:t>ROI </a:t>
                      </a:r>
                      <a:r>
                        <a:rPr lang="ru-RU" dirty="0" smtClean="0"/>
                        <a:t>внедрения системы.</a:t>
                      </a:r>
                      <a:endParaRPr lang="ru-RU"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4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49" y="996176"/>
            <a:ext cx="6177605" cy="110025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endParaRPr lang="en-US" sz="1500" dirty="0" smtClean="0">
              <a:solidFill>
                <a:schemeClr val="dk1"/>
              </a:solidFill>
              <a:latin typeface="Roboto Medium" panose="020B0604020202020204" charset="0"/>
              <a:ea typeface="Roboto Medium" panose="020B0604020202020204" charset="0"/>
              <a:cs typeface="Roboto Medium"/>
              <a:sym typeface="Roboto Medium"/>
            </a:endParaRPr>
          </a:p>
          <a:p>
            <a:r>
              <a:rPr lang="ru" sz="1500" dirty="0" smtClean="0">
                <a:solidFill>
                  <a:schemeClr val="dk1"/>
                </a:solidFill>
                <a:latin typeface="Roboto Medium" panose="020B0604020202020204" charset="0"/>
                <a:ea typeface="Roboto Medium" panose="020B0604020202020204" charset="0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latin typeface="Roboto Medium" panose="020B0604020202020204" charset="0"/>
                <a:ea typeface="Roboto Medium" panose="020B0604020202020204" charset="0"/>
              </a:rPr>
              <a:t>Построить систему контроля качества данных о клиентах (</a:t>
            </a:r>
            <a:r>
              <a:rPr lang="ru-RU" sz="1500" i="1" dirty="0" err="1">
                <a:latin typeface="Roboto Medium" panose="020B0604020202020204" charset="0"/>
                <a:ea typeface="Roboto Medium" panose="020B0604020202020204" charset="0"/>
              </a:rPr>
              <a:t>Customer</a:t>
            </a:r>
            <a:r>
              <a:rPr lang="ru-RU" sz="1500" i="1" dirty="0">
                <a:latin typeface="Roboto Medium" panose="020B0604020202020204" charset="0"/>
                <a:ea typeface="Roboto Medium" panose="020B0604020202020204" charset="0"/>
              </a:rPr>
              <a:t> 360</a:t>
            </a:r>
            <a:r>
              <a:rPr lang="ru-RU" sz="1500" dirty="0">
                <a:latin typeface="Roboto Medium" panose="020B0604020202020204" charset="0"/>
                <a:ea typeface="Roboto Medium" panose="020B0604020202020204" charset="0"/>
              </a:rPr>
              <a:t>) на основе реальных </a:t>
            </a:r>
            <a:r>
              <a:rPr lang="ru-RU" sz="1500" dirty="0" err="1">
                <a:latin typeface="Roboto Medium" panose="020B0604020202020204" charset="0"/>
                <a:ea typeface="Roboto Medium" panose="020B0604020202020204" charset="0"/>
              </a:rPr>
              <a:t>датасетов</a:t>
            </a:r>
            <a:r>
              <a:rPr lang="ru-RU" sz="1500" dirty="0">
                <a:latin typeface="Roboto Medium" panose="020B0604020202020204" charset="0"/>
                <a:ea typeface="Roboto Medium" panose="020B0604020202020204" charset="0"/>
              </a:rPr>
              <a:t> из CRM, API-логов и выгрузок из операционной системы.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998906268"/>
              </p:ext>
            </p:extLst>
          </p:nvPr>
        </p:nvGraphicFramePr>
        <p:xfrm>
          <a:off x="952500" y="1897775"/>
          <a:ext cx="7239000" cy="3057250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 err="1" smtClean="0"/>
                        <a:t>Python</a:t>
                      </a:r>
                      <a:r>
                        <a:rPr lang="ru-RU" sz="1600" b="1" dirty="0" smtClean="0"/>
                        <a:t> + </a:t>
                      </a:r>
                      <a:r>
                        <a:rPr lang="ru-RU" sz="1600" b="1" dirty="0" err="1" smtClean="0"/>
                        <a:t>Pandas</a:t>
                      </a:r>
                      <a:r>
                        <a:rPr lang="ru-RU" sz="1600" b="1" dirty="0" smtClean="0"/>
                        <a:t>/</a:t>
                      </a:r>
                      <a:r>
                        <a:rPr lang="ru-RU" sz="1600" b="1" dirty="0" err="1" smtClean="0"/>
                        <a:t>Soda</a:t>
                      </a:r>
                      <a:r>
                        <a:rPr lang="ru-RU" sz="1600" b="1" dirty="0" smtClean="0"/>
                        <a:t> </a:t>
                      </a:r>
                      <a:r>
                        <a:rPr lang="ru-RU" sz="1600" b="1" dirty="0" err="1" smtClean="0"/>
                        <a:t>Core</a:t>
                      </a:r>
                      <a:r>
                        <a:rPr lang="ru-RU" sz="1600" b="1" dirty="0" smtClean="0"/>
                        <a:t>:</a:t>
                      </a:r>
                      <a:r>
                        <a:rPr lang="ru-RU" sz="1600" dirty="0" smtClean="0"/>
                        <a:t> Для профилирования и разработки правил.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 err="1" smtClean="0"/>
                        <a:t>Apache</a:t>
                      </a:r>
                      <a:r>
                        <a:rPr lang="ru-RU" sz="1600" b="1" dirty="0" smtClean="0"/>
                        <a:t> </a:t>
                      </a:r>
                      <a:r>
                        <a:rPr lang="ru-RU" sz="1600" b="1" dirty="0" err="1" smtClean="0"/>
                        <a:t>Airflow</a:t>
                      </a:r>
                      <a:r>
                        <a:rPr lang="ru-RU" sz="1600" b="1" dirty="0" smtClean="0"/>
                        <a:t>:</a:t>
                      </a:r>
                      <a:r>
                        <a:rPr lang="ru-RU" sz="1600" dirty="0" smtClean="0"/>
                        <a:t> Для автоматизации проверок и </a:t>
                      </a:r>
                      <a:r>
                        <a:rPr lang="ru-RU" sz="1600" dirty="0" err="1" smtClean="0"/>
                        <a:t>оркестрации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 err="1" smtClean="0"/>
                        <a:t>пайплайнов</a:t>
                      </a:r>
                      <a:r>
                        <a:rPr lang="ru-RU" sz="1600" dirty="0" smtClean="0"/>
                        <a:t>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 smtClean="0"/>
                        <a:t>BI-система (</a:t>
                      </a:r>
                      <a:r>
                        <a:rPr lang="en-US" sz="1600" b="1" dirty="0" err="1" smtClean="0"/>
                        <a:t>Graphana</a:t>
                      </a:r>
                      <a:r>
                        <a:rPr lang="ru-RU" sz="1600" b="1" dirty="0" smtClean="0"/>
                        <a:t>):</a:t>
                      </a:r>
                      <a:r>
                        <a:rPr lang="ru-RU" sz="1600" dirty="0" smtClean="0"/>
                        <a:t> Для визуализации метрик качества.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i="1" dirty="0" smtClean="0"/>
                        <a:t>Вывод:</a:t>
                      </a:r>
                      <a:r>
                        <a:rPr lang="ru-RU" sz="1600" dirty="0" smtClean="0"/>
                        <a:t> Использование </a:t>
                      </a:r>
                      <a:r>
                        <a:rPr lang="ru-RU" sz="1600" dirty="0" err="1" smtClean="0"/>
                        <a:t>open-source</a:t>
                      </a:r>
                      <a:r>
                        <a:rPr lang="ru-RU" sz="1600" dirty="0" smtClean="0"/>
                        <a:t> инструментов позволило быстро создать MVP без дополнительных затрат.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75" y="1636006"/>
            <a:ext cx="2487384" cy="3097036"/>
          </a:xfrm>
          <a:prstGeom prst="rect">
            <a:avLst/>
          </a:prstGeom>
        </p:spPr>
      </p:pic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283428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TextBox 1"/>
          <p:cNvSpPr txBox="1"/>
          <p:nvPr/>
        </p:nvSpPr>
        <p:spPr>
          <a:xfrm>
            <a:off x="500549" y="998346"/>
            <a:ext cx="84227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А</a:t>
            </a:r>
            <a:r>
              <a:rPr lang="ru-RU" sz="1800" b="1" dirty="0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рхив проекта: </a:t>
            </a:r>
          </a:p>
          <a:p>
            <a:r>
              <a:rPr lang="en-US" sz="1500" dirty="0" smtClean="0">
                <a:solidFill>
                  <a:schemeClr val="tx1"/>
                </a:solidFill>
                <a:latin typeface="Roboto Medium" panose="020B0604020202020204" charset="0"/>
                <a:ea typeface="Roboto Medium" panose="020B0604020202020204" charset="0"/>
              </a:rPr>
              <a:t>https</a:t>
            </a:r>
            <a:r>
              <a:rPr lang="en-US" sz="1500" dirty="0">
                <a:solidFill>
                  <a:schemeClr val="tx1"/>
                </a:solidFill>
                <a:latin typeface="Roboto Medium" panose="020B0604020202020204" charset="0"/>
                <a:ea typeface="Roboto Medium" panose="020B0604020202020204" charset="0"/>
              </a:rPr>
              <a:t>://</a:t>
            </a:r>
            <a:r>
              <a:rPr lang="en-US" sz="1500" dirty="0" smtClean="0">
                <a:solidFill>
                  <a:schemeClr val="tx1"/>
                </a:solidFill>
                <a:latin typeface="Roboto Medium" panose="020B0604020202020204" charset="0"/>
                <a:ea typeface="Roboto Medium" panose="020B0604020202020204" charset="0"/>
              </a:rPr>
              <a:t>drive.google.com/drive/folders/1gDcrt_6YCvprVGG-m31ezJc9ojRmleQK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828" y="1896056"/>
            <a:ext cx="2427932" cy="2546368"/>
          </a:xfrm>
          <a:prstGeom prst="rect">
            <a:avLst/>
          </a:prstGeom>
        </p:spPr>
      </p:pic>
      <p:pic>
        <p:nvPicPr>
          <p:cNvPr id="13" name="Google Shape;53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92" y="2080904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14" name="Google Shape;538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092" y="2794101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15" name="Google Shape;539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092" y="3470371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16" name="Google Shape;540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092" y="413822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19" name="Google Shape;543;p69"/>
          <p:cNvSpPr txBox="1"/>
          <p:nvPr/>
        </p:nvSpPr>
        <p:spPr>
          <a:xfrm>
            <a:off x="818979" y="2182143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544;p69"/>
          <p:cNvSpPr txBox="1"/>
          <p:nvPr/>
        </p:nvSpPr>
        <p:spPr>
          <a:xfrm>
            <a:off x="818979" y="2895340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545;p69"/>
          <p:cNvSpPr txBox="1"/>
          <p:nvPr/>
        </p:nvSpPr>
        <p:spPr>
          <a:xfrm>
            <a:off x="818979" y="3571610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546;p69"/>
          <p:cNvSpPr txBox="1"/>
          <p:nvPr/>
        </p:nvSpPr>
        <p:spPr>
          <a:xfrm>
            <a:off x="818979" y="423945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" name="Google Shape;548;p69"/>
          <p:cNvGraphicFramePr/>
          <p:nvPr>
            <p:extLst>
              <p:ext uri="{D42A27DB-BD31-4B8C-83A1-F6EECF244321}">
                <p14:modId xmlns:p14="http://schemas.microsoft.com/office/powerpoint/2010/main" val="1614001107"/>
              </p:ext>
            </p:extLst>
          </p:nvPr>
        </p:nvGraphicFramePr>
        <p:xfrm>
          <a:off x="2091829" y="2064982"/>
          <a:ext cx="3548697" cy="3519922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3548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352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Загрузка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и анализ источников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600" baseline="0" dirty="0" smtClean="0">
                        <a:solidFill>
                          <a:schemeClr val="dk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Profiling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500" dirty="0" smtClean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15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Rules Engine </a:t>
                      </a: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08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lang="ru-RU" sz="1500" dirty="0" smtClean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en-US" sz="15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Dashboards</a:t>
                      </a: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8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endParaRPr sz="15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7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500550" y="1103459"/>
            <a:ext cx="54312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DAG </a:t>
            </a:r>
            <a:r>
              <a:rPr lang="ru-RU" sz="1500" b="1" dirty="0" err="1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Airflow</a:t>
            </a:r>
            <a:r>
              <a:rPr lang="ru-RU" sz="1500" b="1" dirty="0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 для выполнения DQ-задач</a:t>
            </a:r>
            <a:endParaRPr lang="ru-RU" sz="1500" dirty="0">
              <a:latin typeface="Roboto Medium" panose="020B0604020202020204" charset="0"/>
              <a:ea typeface="Roboto Medium" panose="020B060402020202020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0" y="1500721"/>
            <a:ext cx="8155870" cy="29293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sp>
        <p:nvSpPr>
          <p:cNvPr id="4" name="TextBox 3"/>
          <p:cNvSpPr txBox="1"/>
          <p:nvPr/>
        </p:nvSpPr>
        <p:spPr>
          <a:xfrm>
            <a:off x="500550" y="1209861"/>
            <a:ext cx="69525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b="1" dirty="0" err="1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Дашборд</a:t>
            </a:r>
            <a:r>
              <a:rPr lang="ru-RU" sz="1500" b="1" dirty="0" smtClean="0">
                <a:solidFill>
                  <a:schemeClr val="accent1">
                    <a:lumMod val="50000"/>
                  </a:schemeClr>
                </a:solidFill>
                <a:latin typeface="Roboto Medium" panose="020B0604020202020204" charset="0"/>
                <a:ea typeface="Roboto Medium" panose="020B0604020202020204" charset="0"/>
              </a:rPr>
              <a:t> с метриками качества</a:t>
            </a:r>
            <a:endParaRPr lang="ru-RU" sz="1500" b="1" dirty="0">
              <a:solidFill>
                <a:schemeClr val="accent1">
                  <a:lumMod val="50000"/>
                </a:schemeClr>
              </a:solidFill>
              <a:latin typeface="Roboto Medium" panose="020B0604020202020204" charset="0"/>
              <a:ea typeface="Roboto Medium" panose="020B060402020202020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5" y="1533026"/>
            <a:ext cx="7043250" cy="32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6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821618317"/>
              </p:ext>
            </p:extLst>
          </p:nvPr>
        </p:nvGraphicFramePr>
        <p:xfrm>
          <a:off x="968266" y="1127193"/>
          <a:ext cx="7239000" cy="4580008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Проект позволил достичь цели: создан работающий прототип системы мониторинга качества данных.</a:t>
                      </a:r>
                      <a:endParaRPr sz="1500" dirty="0">
                        <a:solidFill>
                          <a:srgbClr val="9857F3"/>
                        </a:solidFill>
                        <a:latin typeface="Roboto Medium" panose="020B0604020202020204" charset="0"/>
                        <a:ea typeface="Roboto Medium" panose="020B0604020202020204" charset="0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Сложности возникли с настройкой интеграции между </a:t>
                      </a:r>
                      <a:r>
                        <a:rPr lang="ru-RU" sz="1600" dirty="0" err="1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Airflow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 и BI-системой;</a:t>
                      </a:r>
                      <a:r>
                        <a:rPr lang="en-US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 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потребовалась база данных </a:t>
                      </a:r>
                      <a:r>
                        <a:rPr lang="en-US" sz="1600" dirty="0" err="1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Postgres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.</a:t>
                      </a:r>
                      <a:endParaRPr sz="1600" dirty="0">
                        <a:solidFill>
                          <a:srgbClr val="9857F3"/>
                        </a:solidFill>
                        <a:latin typeface="Roboto Medium" panose="020B0604020202020204" charset="0"/>
                        <a:ea typeface="Roboto Medium" panose="020B0604020202020204" charset="0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5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 smtClean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 smtClean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Работа заняла около месяца плотной загрузки (анализ данных, разработка </a:t>
                      </a:r>
                      <a:r>
                        <a:rPr lang="ru-RU" sz="1600" dirty="0" err="1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пайплайна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, настройка базы</a:t>
                      </a:r>
                      <a:r>
                        <a:rPr lang="ru-RU" sz="1600" baseline="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 данных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dirty="0" smtClean="0">
                        <a:solidFill>
                          <a:srgbClr val="9857F3"/>
                        </a:solidFill>
                        <a:latin typeface="Roboto Medium" panose="020B0604020202020204" charset="0"/>
                        <a:ea typeface="Roboto Medium" panose="020B0604020202020204" charset="0"/>
                        <a:cs typeface="Roboto"/>
                        <a:sym typeface="Roboto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Полезность проекта = </a:t>
                      </a:r>
                      <a:r>
                        <a:rPr lang="ru-RU" sz="1600" b="1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9/10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. Получен бесценный опыт построения систем DQ «с нуля».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ru-RU" sz="1600" dirty="0" smtClean="0">
                        <a:latin typeface="Roboto Medium" panose="020B0604020202020204" charset="0"/>
                        <a:ea typeface="Roboto Medium" panose="020B060402020202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Планирую развивать навыки в области </a:t>
                      </a:r>
                      <a:r>
                        <a:rPr lang="ru-RU" sz="1600" dirty="0" err="1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Data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 </a:t>
                      </a:r>
                      <a:r>
                        <a:rPr lang="ru-RU" sz="1600" dirty="0" err="1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Contracts</a:t>
                      </a:r>
                      <a:r>
                        <a:rPr lang="ru-RU" sz="1600" dirty="0" smtClean="0">
                          <a:latin typeface="Roboto Medium" panose="020B0604020202020204" charset="0"/>
                          <a:ea typeface="Roboto Medium" panose="020B0604020202020204" charset="0"/>
                        </a:rPr>
                        <a:t> и внедрять эту практику у себя на работе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dirty="0">
                        <a:solidFill>
                          <a:srgbClr val="9857F3"/>
                        </a:solidFill>
                        <a:latin typeface="Roboto Medium" panose="020B0604020202020204" charset="0"/>
                        <a:ea typeface="Roboto Medium" panose="020B0604020202020204" charset="0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9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Процесс через этапы</a:t>
            </a:r>
            <a:r>
              <a:rPr lang="ru" dirty="0"/>
              <a:t> </a:t>
            </a:r>
            <a:endParaRPr dirty="0"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5494225" cy="3543150"/>
        </p:xfrm>
        <a:graphic>
          <a:graphicData uri="http://schemas.openxmlformats.org/drawingml/2006/table">
            <a:tbl>
              <a:tblPr>
                <a:noFill/>
                <a:tableStyleId>{29A2813C-73D9-4D50-8B73-B82EC4B9FD58}</a:tableStyleId>
              </a:tblPr>
              <a:tblGrid>
                <a:gridCol w="54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sz="5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490</Words>
  <Application>Microsoft Office PowerPoint</Application>
  <PresentationFormat>Экран (16:9)</PresentationFormat>
  <Paragraphs>98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Roboto Medium</vt:lpstr>
      <vt:lpstr>Roboto</vt:lpstr>
      <vt:lpstr>Arial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Сквозной аудит качества данных в домене Customer 360 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Что получилось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  <vt:lpstr>Процесс через этапы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vln</cp:lastModifiedBy>
  <cp:revision>7</cp:revision>
  <dcterms:modified xsi:type="dcterms:W3CDTF">2026-09-13T10:45:05Z</dcterms:modified>
</cp:coreProperties>
</file>