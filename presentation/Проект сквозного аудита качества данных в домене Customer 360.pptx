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theme/theme2.xml" ContentType="application/vnd.openxmlformats-officedocument.theme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9" r:id="rId1"/>
    <p:sldMasterId id="2147483680" r:id="rId2"/>
    <p:sldMasterId id="2147483681" r:id="rId3"/>
  </p:sldMasterIdLst>
  <p:notesMasterIdLst>
    <p:notesMasterId r:id="rId21"/>
  </p:notesMasterIdLst>
  <p:sldIdLst>
    <p:sldId id="256" r:id="rId4"/>
    <p:sldId id="257" r:id="rId5"/>
    <p:sldId id="258" r:id="rId6"/>
    <p:sldId id="259" r:id="rId7"/>
    <p:sldId id="260" r:id="rId8"/>
    <p:sldId id="261" r:id="rId9"/>
    <p:sldId id="300" r:id="rId10"/>
    <p:sldId id="262" r:id="rId11"/>
    <p:sldId id="299" r:id="rId12"/>
    <p:sldId id="301" r:id="rId13"/>
    <p:sldId id="302" r:id="rId14"/>
    <p:sldId id="304" r:id="rId15"/>
    <p:sldId id="305" r:id="rId16"/>
    <p:sldId id="264" r:id="rId17"/>
    <p:sldId id="265" r:id="rId18"/>
    <p:sldId id="266" r:id="rId19"/>
    <p:sldId id="298" r:id="rId20"/>
  </p:sldIdLst>
  <p:sldSz cx="9144000" cy="5143500" type="screen16x9"/>
  <p:notesSz cx="6858000" cy="9144000"/>
  <p:embeddedFontLst>
    <p:embeddedFont>
      <p:font typeface="Roboto Medium" panose="020B0604020202020204" charset="0"/>
      <p:regular r:id="rId22"/>
      <p:bold r:id="rId23"/>
      <p:italic r:id="rId24"/>
      <p:boldItalic r:id="rId25"/>
    </p:embeddedFont>
    <p:embeddedFont>
      <p:font typeface="Roboto" panose="020B0604020202020204" charset="0"/>
      <p:regular r:id="rId26"/>
      <p:bold r:id="rId27"/>
      <p:italic r:id="rId28"/>
      <p:boldItalic r:id="rId29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pos="5533">
          <p15:clr>
            <a:srgbClr val="A4A3A4"/>
          </p15:clr>
        </p15:guide>
        <p15:guide id="2" pos="397">
          <p15:clr>
            <a:srgbClr val="9AA0A6"/>
          </p15:clr>
        </p15:guide>
        <p15:guide id="3" orient="horz" pos="3240">
          <p15:clr>
            <a:srgbClr val="9AA0A6"/>
          </p15:clr>
        </p15:guide>
        <p15:guide id="4" orient="horz">
          <p15:clr>
            <a:srgbClr val="747775"/>
          </p15:clr>
        </p15:guide>
        <p15:guide id="5" orient="horz" pos="51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29A2813C-73D9-4D50-8B73-B82EC4B9FD58}">
  <a:tblStyle styleId="{29A2813C-73D9-4D50-8B73-B82EC4B9FD58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20"/>
    <p:restoredTop sz="94660"/>
  </p:normalViewPr>
  <p:slideViewPr>
    <p:cSldViewPr snapToGrid="0">
      <p:cViewPr varScale="1">
        <p:scale>
          <a:sx n="89" d="100"/>
          <a:sy n="89" d="100"/>
        </p:scale>
        <p:origin x="548" y="44"/>
      </p:cViewPr>
      <p:guideLst>
        <p:guide pos="5533"/>
        <p:guide pos="397"/>
        <p:guide orient="horz" pos="3240"/>
        <p:guide orient="horz"/>
        <p:guide orient="horz" pos="51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font" Target="fonts/font5.fntdata"/><Relationship Id="rId3" Type="http://schemas.openxmlformats.org/officeDocument/2006/relationships/slideMaster" Target="slideMasters/slideMaster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font" Target="fonts/font4.fntdata"/><Relationship Id="rId33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font" Target="fonts/font3.fntdata"/><Relationship Id="rId32" Type="http://schemas.openxmlformats.org/officeDocument/2006/relationships/theme" Target="theme/theme1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viewProps" Target="viewProp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9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g33ce85d903d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4" name="Google Shape;144;g33ce85d903d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0f7d84ce1d_0_1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0f7d84ce1d_0_12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gde823becd0_0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1" name="Google Shape;161;gde823becd0_0_4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0f7d84ce1d_0_2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0f7d84ce1d_0_25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gf98075b259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3" name="Google Shape;183;gf98075b259_0_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gf98075b259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3" name="Google Shape;193;gf98075b259_0_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659715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4889780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9287787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88261458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gdf29b9fb24_0_6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2" name="Google Shape;202;gdf29b9fb24_0_6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966054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f98075b259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f98075b259_0_5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0278805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104438fcaf_0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9" name="Google Shape;219;g3104438fcaf_0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0f7d84ce1d_0_38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2" name="Google Shape;232;g30f7d84ce1d_0_38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8" name="Google Shape;238;g341727d1ac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9" name="Google Shape;239;g341727d1ac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33ce85d903d_0_7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2" name="Google Shape;612;g33ce85d903d_0_7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2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0;p2"/>
          <p:cNvPicPr preferRelativeResize="0"/>
          <p:nvPr/>
        </p:nvPicPr>
        <p:blipFill rotWithShape="1">
          <a:blip r:embed="rId2">
            <a:alphaModFix/>
          </a:blip>
          <a:srcRect l="100" r="100"/>
          <a:stretch/>
        </p:blipFill>
        <p:spPr>
          <a:xfrm>
            <a:off x="-17925" y="-10075"/>
            <a:ext cx="9194726" cy="518215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944650" y="4350425"/>
            <a:ext cx="8293200" cy="48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 b="1">
                <a:solidFill>
                  <a:schemeClr val="lt1"/>
                </a:solidFill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title"/>
          </p:nvPr>
        </p:nvSpPr>
        <p:spPr>
          <a:xfrm>
            <a:off x="944650" y="1769200"/>
            <a:ext cx="7379700" cy="2375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600"/>
              <a:buNone/>
              <a:defRPr sz="5600">
                <a:solidFill>
                  <a:schemeClr val="lt1"/>
                </a:solidFill>
              </a:defRPr>
            </a:lvl1pPr>
            <a:lvl2pPr lvl="1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елый слайд + заголовок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500550" y="1784775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ш макет 1">
  <p:cSld name="CUSTOM_5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5"/>
          <p:cNvSpPr txBox="1">
            <a:spLocks noGrp="1"/>
          </p:cNvSpPr>
          <p:nvPr>
            <p:ph type="body" idx="1"/>
          </p:nvPr>
        </p:nvSpPr>
        <p:spPr>
          <a:xfrm>
            <a:off x="500550" y="1426469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238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500"/>
              <a:buChar char="●"/>
              <a:defRPr sz="1500"/>
            </a:lvl1pPr>
            <a:lvl2pPr marL="914400" lvl="1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2pPr>
            <a:lvl3pPr marL="1371600" lvl="2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3pPr>
            <a:lvl4pPr marL="1828800" lvl="3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4pPr>
            <a:lvl5pPr marL="2286000" lvl="4" indent="-31115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marL="2743200" lvl="5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6pPr>
            <a:lvl7pPr marL="3200400" lvl="6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●"/>
              <a:defRPr sz="1300"/>
            </a:lvl7pPr>
            <a:lvl8pPr marL="3657600" lvl="7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○"/>
              <a:defRPr sz="1300"/>
            </a:lvl8pPr>
            <a:lvl9pPr marL="4114800" lvl="8" indent="-311150" rtl="0">
              <a:lnSpc>
                <a:spcPct val="120000"/>
              </a:lnSpc>
              <a:spcBef>
                <a:spcPts val="30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>
            <a:endParaRPr/>
          </a:p>
        </p:txBody>
      </p:sp>
      <p:sp>
        <p:nvSpPr>
          <p:cNvPr id="21" name="Google Shape;21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ема вебинара" type="twoColTx">
  <p:cSld name="TITLE_AND_TWO_COLUMNS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24" name="Google Shape;24;p6"/>
          <p:cNvSpPr txBox="1">
            <a:spLocks noGrp="1"/>
          </p:cNvSpPr>
          <p:nvPr>
            <p:ph type="title"/>
          </p:nvPr>
        </p:nvSpPr>
        <p:spPr>
          <a:xfrm>
            <a:off x="500550" y="821213"/>
            <a:ext cx="8520600" cy="198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6"/>
          <p:cNvSpPr txBox="1">
            <a:spLocks noGrp="1"/>
          </p:cNvSpPr>
          <p:nvPr>
            <p:ph type="subTitle" idx="1"/>
          </p:nvPr>
        </p:nvSpPr>
        <p:spPr>
          <a:xfrm>
            <a:off x="500550" y="457313"/>
            <a:ext cx="77967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6" name="Google Shape;26;p6"/>
          <p:cNvSpPr txBox="1">
            <a:spLocks noGrp="1"/>
          </p:cNvSpPr>
          <p:nvPr>
            <p:ph type="subTitle" idx="2"/>
          </p:nvPr>
        </p:nvSpPr>
        <p:spPr>
          <a:xfrm>
            <a:off x="3135425" y="2978831"/>
            <a:ext cx="58563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500"/>
              <a:buNone/>
              <a:defRPr sz="15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2300"/>
              <a:buNone/>
              <a:defRPr sz="2300" b="1">
                <a:solidFill>
                  <a:srgbClr val="013D85"/>
                </a:solidFill>
              </a:defRPr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ubTitle" idx="3"/>
          </p:nvPr>
        </p:nvSpPr>
        <p:spPr>
          <a:xfrm>
            <a:off x="3135425" y="3278981"/>
            <a:ext cx="58563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6"/>
          <p:cNvSpPr txBox="1">
            <a:spLocks noGrp="1"/>
          </p:cNvSpPr>
          <p:nvPr>
            <p:ph type="subTitle" idx="4"/>
          </p:nvPr>
        </p:nvSpPr>
        <p:spPr>
          <a:xfrm>
            <a:off x="3135425" y="3662550"/>
            <a:ext cx="5856300" cy="1032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ительный слайд">
  <p:cSld name="MAIN_POINT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pic>
        <p:nvPicPr>
          <p:cNvPr id="31" name="Google Shape;31;p7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32;p7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600"/>
              <a:buNone/>
              <a:defRPr sz="46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 себе">
  <p:cSld name="CUSTOM_1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8"/>
          <p:cNvSpPr txBox="1">
            <a:spLocks noGrp="1"/>
          </p:cNvSpPr>
          <p:nvPr>
            <p:ph type="subTitle" idx="1"/>
          </p:nvPr>
        </p:nvSpPr>
        <p:spPr>
          <a:xfrm>
            <a:off x="3891775" y="1716281"/>
            <a:ext cx="4391700" cy="587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13D85"/>
              </a:buClr>
              <a:buSzPts val="1600"/>
              <a:buNone/>
              <a:defRPr sz="1600" b="1">
                <a:solidFill>
                  <a:srgbClr val="013D85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300"/>
              <a:buNone/>
              <a:defRPr sz="2300" b="1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6" name="Google Shape;36;p8"/>
          <p:cNvSpPr txBox="1">
            <a:spLocks noGrp="1"/>
          </p:cNvSpPr>
          <p:nvPr>
            <p:ph type="subTitle" idx="2"/>
          </p:nvPr>
        </p:nvSpPr>
        <p:spPr>
          <a:xfrm>
            <a:off x="3891775" y="2252801"/>
            <a:ext cx="5095200" cy="251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аздел+описание">
  <p:cSld name="SECTION_TITLE_AND_DESCRIPTION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rgbClr val="F3F3F3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title"/>
          </p:nvPr>
        </p:nvSpPr>
        <p:spPr>
          <a:xfrm>
            <a:off x="609075" y="12208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ubTitle" idx="1"/>
          </p:nvPr>
        </p:nvSpPr>
        <p:spPr>
          <a:xfrm>
            <a:off x="609075" y="2916213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  <p:sp>
        <p:nvSpPr>
          <p:cNvPr id="41" name="Google Shape;41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36550">
              <a:spcBef>
                <a:spcPts val="0"/>
              </a:spcBef>
              <a:spcAft>
                <a:spcPts val="0"/>
              </a:spcAft>
              <a:buSzPts val="1700"/>
              <a:buChar char="●"/>
              <a:defRPr/>
            </a:lvl1pPr>
            <a:lvl2pPr marL="914400" lvl="1" indent="-323850">
              <a:spcBef>
                <a:spcPts val="0"/>
              </a:spcBef>
              <a:spcAft>
                <a:spcPts val="0"/>
              </a:spcAft>
              <a:buSzPts val="1500"/>
              <a:buChar char="○"/>
              <a:defRPr/>
            </a:lvl2pPr>
            <a:lvl3pPr marL="1371600" lvl="2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3pPr>
            <a:lvl4pPr marL="1828800" lvl="3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4pPr>
            <a:lvl5pPr marL="2286000" lvl="4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5pPr>
            <a:lvl6pPr marL="2743200" lvl="5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6pPr>
            <a:lvl7pPr marL="3200400" lvl="6" indent="-311150">
              <a:spcBef>
                <a:spcPts val="0"/>
              </a:spcBef>
              <a:spcAft>
                <a:spcPts val="0"/>
              </a:spcAft>
              <a:buSzPts val="1300"/>
              <a:buChar char="●"/>
              <a:defRPr/>
            </a:lvl7pPr>
            <a:lvl8pPr marL="3657600" lvl="7" indent="-311150">
              <a:spcBef>
                <a:spcPts val="0"/>
              </a:spcBef>
              <a:spcAft>
                <a:spcPts val="0"/>
              </a:spcAft>
              <a:buSzPts val="1300"/>
              <a:buChar char="○"/>
              <a:defRPr/>
            </a:lvl8pPr>
            <a:lvl9pPr marL="4114800" lvl="8" indent="-311150">
              <a:spcBef>
                <a:spcPts val="0"/>
              </a:spcBef>
              <a:spcAft>
                <a:spcPts val="0"/>
              </a:spcAft>
              <a:buSzPts val="1300"/>
              <a:buChar char="■"/>
              <a:defRPr/>
            </a:lvl9pPr>
          </a:lstStyle>
          <a:p>
            <a:endParaRPr/>
          </a:p>
        </p:txBody>
      </p:sp>
      <p:sp>
        <p:nvSpPr>
          <p:cNvPr id="42" name="Google Shape;42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1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1">
  <p:cSld name="CUSTOM_2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12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0" name="Google Shape;50;p12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Courier New"/>
              <a:buNone/>
              <a:defRPr sz="11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кодом 2">
  <p:cSld name="CUSTOM_2_1"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/>
          <p:nvPr/>
        </p:nvSpPr>
        <p:spPr>
          <a:xfrm>
            <a:off x="590475" y="1364975"/>
            <a:ext cx="7988400" cy="34125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subTitle" idx="1"/>
          </p:nvPr>
        </p:nvSpPr>
        <p:spPr>
          <a:xfrm>
            <a:off x="754725" y="1516446"/>
            <a:ext cx="82263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Courier New"/>
              <a:buNone/>
              <a:defRPr sz="1100">
                <a:solidFill>
                  <a:schemeClr val="lt1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700"/>
              <a:buNone/>
              <a:defRPr sz="17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1">
  <p:cSld name="CUSTOM_4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14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14"/>
          <p:cNvSpPr txBox="1">
            <a:spLocks noGrp="1"/>
          </p:cNvSpPr>
          <p:nvPr>
            <p:ph type="subTitle" idx="1"/>
          </p:nvPr>
        </p:nvSpPr>
        <p:spPr>
          <a:xfrm>
            <a:off x="544050" y="1350425"/>
            <a:ext cx="5316300" cy="904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58" name="Google Shape;58;p14"/>
          <p:cNvSpPr/>
          <p:nvPr/>
        </p:nvSpPr>
        <p:spPr>
          <a:xfrm>
            <a:off x="606200" y="2144231"/>
            <a:ext cx="7938600" cy="24645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9" name="Google Shape;59;p14"/>
          <p:cNvSpPr txBox="1">
            <a:spLocks noGrp="1"/>
          </p:cNvSpPr>
          <p:nvPr>
            <p:ph type="subTitle" idx="2"/>
          </p:nvPr>
        </p:nvSpPr>
        <p:spPr>
          <a:xfrm>
            <a:off x="795050" y="2220038"/>
            <a:ext cx="7568100" cy="2363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  <a:defRPr sz="17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КОД+ТЕКСТ 2">
  <p:cSld name="CUSTOM_4_1">
    <p:spTree>
      <p:nvGrpSpPr>
        <p:cNvPr id="1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62" name="Google Shape;62;p15"/>
          <p:cNvSpPr/>
          <p:nvPr/>
        </p:nvSpPr>
        <p:spPr>
          <a:xfrm>
            <a:off x="362300" y="1384249"/>
            <a:ext cx="4748700" cy="3393300"/>
          </a:xfrm>
          <a:prstGeom prst="rect">
            <a:avLst/>
          </a:prstGeom>
          <a:solidFill>
            <a:srgbClr val="FBFBFE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3" name="Google Shape;63;p15"/>
          <p:cNvSpPr txBox="1">
            <a:spLocks noGrp="1"/>
          </p:cNvSpPr>
          <p:nvPr>
            <p:ph type="subTitle" idx="1"/>
          </p:nvPr>
        </p:nvSpPr>
        <p:spPr>
          <a:xfrm>
            <a:off x="500550" y="1474819"/>
            <a:ext cx="4428600" cy="345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Font typeface="Courier New"/>
              <a:buNone/>
              <a:defRPr sz="1300">
                <a:latin typeface="Courier New"/>
                <a:ea typeface="Courier New"/>
                <a:cs typeface="Courier New"/>
                <a:sym typeface="Courier New"/>
              </a:defRPr>
            </a:lvl1pPr>
            <a:lvl2pPr lvl="1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3pPr>
            <a:lvl4pPr lvl="3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4pPr>
            <a:lvl5pPr lvl="4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5pPr>
            <a:lvl6pPr lvl="5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6pPr>
            <a:lvl7pPr lvl="6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7pPr>
            <a:lvl8pPr lvl="7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8pPr>
            <a:lvl9pPr lvl="8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15"/>
          <p:cNvSpPr txBox="1">
            <a:spLocks noGrp="1"/>
          </p:cNvSpPr>
          <p:nvPr>
            <p:ph type="subTitle" idx="2"/>
          </p:nvPr>
        </p:nvSpPr>
        <p:spPr>
          <a:xfrm>
            <a:off x="5555275" y="1474819"/>
            <a:ext cx="3151200" cy="32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 sz="1300" b="0">
                <a:solidFill>
                  <a:schemeClr val="dk1"/>
                </a:solidFill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>
                <a:solidFill>
                  <a:schemeClr val="dk1"/>
                </a:solidFill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None/>
              <a:defRPr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блок текст + картинка" type="title">
  <p:cSld name="TITLE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>
            <a:spLocks noGrp="1"/>
          </p:cNvSpPr>
          <p:nvPr>
            <p:ph type="title"/>
          </p:nvPr>
        </p:nvSpPr>
        <p:spPr>
          <a:xfrm>
            <a:off x="495300" y="1493850"/>
            <a:ext cx="4424100" cy="215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>
            <a:lvl1pPr lv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None/>
              <a:defRPr sz="3500"/>
            </a:lvl1pPr>
            <a:lvl2pPr lvl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endParaRPr/>
          </a:p>
        </p:txBody>
      </p:sp>
      <p:pic>
        <p:nvPicPr>
          <p:cNvPr id="71" name="Google Shape;71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283625" y="843000"/>
            <a:ext cx="3457500" cy="3457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47">
          <p15:clr>
            <a:srgbClr val="E46962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Цитата, фон градиент" type="secHead">
  <p:cSld name="SECTION_HEADER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>
            <a:spLocks noGrp="1"/>
          </p:cNvSpPr>
          <p:nvPr>
            <p:ph type="title"/>
          </p:nvPr>
        </p:nvSpPr>
        <p:spPr>
          <a:xfrm>
            <a:off x="604350" y="1999200"/>
            <a:ext cx="7935300" cy="114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500"/>
              <a:buNone/>
              <a:defRPr sz="4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74" name="Google Shape;74;p1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этапы процесса">
  <p:cSld name="CUSTOM_5"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19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pic>
        <p:nvPicPr>
          <p:cNvPr id="77" name="Google Shape;77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22851" y="1821363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8" name="Google Shape;78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68289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79" name="Google Shape;79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527615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80" name="Google Shape;80;p1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6347001" y="1821362"/>
            <a:ext cx="1643210" cy="755249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81" name="Google Shape;81;p19"/>
          <p:cNvSpPr txBox="1"/>
          <p:nvPr/>
        </p:nvSpPr>
        <p:spPr>
          <a:xfrm>
            <a:off x="121300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2" name="Google Shape;82;p19"/>
          <p:cNvSpPr txBox="1"/>
          <p:nvPr/>
        </p:nvSpPr>
        <p:spPr>
          <a:xfrm>
            <a:off x="3058443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3" name="Google Shape;83;p19"/>
          <p:cNvSpPr txBox="1"/>
          <p:nvPr/>
        </p:nvSpPr>
        <p:spPr>
          <a:xfrm>
            <a:off x="4817770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4" name="Google Shape;84;p19"/>
          <p:cNvSpPr txBox="1"/>
          <p:nvPr/>
        </p:nvSpPr>
        <p:spPr>
          <a:xfrm>
            <a:off x="6637156" y="1944853"/>
            <a:ext cx="1062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b="1">
                <a:solidFill>
                  <a:srgbClr val="EEEEEE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sz="1500" b="1">
              <a:solidFill>
                <a:srgbClr val="EEEEEE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5" name="Google Shape;85;p19"/>
          <p:cNvSpPr txBox="1"/>
          <p:nvPr/>
        </p:nvSpPr>
        <p:spPr>
          <a:xfrm>
            <a:off x="98290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6" name="Google Shape;86;p19"/>
          <p:cNvSpPr txBox="1"/>
          <p:nvPr/>
        </p:nvSpPr>
        <p:spPr>
          <a:xfrm>
            <a:off x="2828343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7" name="Google Shape;87;p19"/>
          <p:cNvSpPr txBox="1"/>
          <p:nvPr/>
        </p:nvSpPr>
        <p:spPr>
          <a:xfrm>
            <a:off x="4587670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88" name="Google Shape;88;p19"/>
          <p:cNvSpPr txBox="1"/>
          <p:nvPr/>
        </p:nvSpPr>
        <p:spPr>
          <a:xfrm>
            <a:off x="6407056" y="3241600"/>
            <a:ext cx="1523100" cy="109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Описание данных в виде набора сущностей, отношений между ними, атрибутов сущностей, </a:t>
            </a:r>
            <a:r>
              <a:rPr lang="ru" sz="900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их типов данных, соглашений </a:t>
            </a:r>
            <a:endParaRPr sz="900" i="0" u="none" strike="noStrike" cap="non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r>
              <a:rPr lang="ru" sz="90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об именовании и правил проверки целостностей </a:t>
            </a:r>
            <a:endParaRPr sz="900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писок в 2 колонки ">
  <p:cSld name="CUSTOM_8"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1" name="Google Shape;91;p20"/>
          <p:cNvGraphicFramePr/>
          <p:nvPr/>
        </p:nvGraphicFramePr>
        <p:xfrm>
          <a:off x="655650" y="17458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{29A2813C-73D9-4D50-8B73-B82EC4B9FD58}</a:tableStyleId>
              </a:tblPr>
              <a:tblGrid>
                <a:gridCol w="3800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1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7915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 Описание эксперимента</a:t>
                      </a:r>
                      <a:r>
                        <a:rPr lang="ru" sz="1700" b="1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000"/>
                        </a:spcAft>
                        <a:buNone/>
                      </a:pPr>
                      <a:r>
                        <a:rPr lang="ru" sz="17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 Технические детали</a:t>
                      </a:r>
                      <a:endParaRPr sz="17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016175">
                <a:tc>
                  <a:txBody>
                    <a:bodyPr/>
                    <a:lstStyle/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Гипотеза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Целевая аудитория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  Ожидаемый результат</a:t>
                      </a:r>
                      <a:endParaRPr/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457200" lvl="0" indent="-31750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Roboto"/>
                        <a:buChar char="●"/>
                      </a:pPr>
                      <a:r>
                        <a:rPr lang="ru" sz="17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</a:t>
                      </a: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Реализация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Настройки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457200" lvl="0" indent="-32385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500"/>
                        <a:buFont typeface="Roboto"/>
                        <a:buChar char="●"/>
                      </a:pPr>
                      <a:r>
                        <a:rPr lang="ru" sz="15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 Метрики</a:t>
                      </a:r>
                      <a:endParaRPr sz="15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FFFFFF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сылка на источник" type="twoColTx">
  <p:cSld name="TITLE_AND_TWO_COLUMNS"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21"/>
          <p:cNvSpPr txBox="1"/>
          <p:nvPr/>
        </p:nvSpPr>
        <p:spPr>
          <a:xfrm>
            <a:off x="556300" y="4554000"/>
            <a:ext cx="4239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добавьте ссылку на источник</a:t>
            </a:r>
            <a:endParaRPr sz="1100">
              <a:solidFill>
                <a:srgbClr val="013D85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397">
          <p15:clr>
            <a:srgbClr val="FA7B17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с подтемой">
  <p:cSld name="MAIN_POINT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2"/>
          <p:cNvSpPr txBox="1">
            <a:spLocks noGrp="1"/>
          </p:cNvSpPr>
          <p:nvPr>
            <p:ph type="title"/>
          </p:nvPr>
        </p:nvSpPr>
        <p:spPr>
          <a:xfrm>
            <a:off x="651425" y="396394"/>
            <a:ext cx="77061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2pPr>
            <a:lvl3pPr lvl="2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3pPr>
            <a:lvl4pPr lvl="3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4pPr>
            <a:lvl5pPr lvl="4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5pPr>
            <a:lvl6pPr lvl="5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6pPr>
            <a:lvl7pPr lvl="6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7pPr>
            <a:lvl8pPr lvl="7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8pPr>
            <a:lvl9pPr lvl="8">
              <a:spcBef>
                <a:spcPts val="0"/>
              </a:spcBef>
              <a:spcAft>
                <a:spcPts val="0"/>
              </a:spcAft>
              <a:buSzPts val="5000"/>
              <a:buNone/>
              <a:defRPr sz="50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аблица ">
  <p:cSld name="CUSTOM_1"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3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aphicFrame>
        <p:nvGraphicFramePr>
          <p:cNvPr id="98" name="Google Shape;98;p23"/>
          <p:cNvGraphicFramePr/>
          <p:nvPr/>
        </p:nvGraphicFramePr>
        <p:xfrm>
          <a:off x="608700" y="159365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{29A2813C-73D9-4D50-8B73-B82EC4B9FD58}</a:tableStyleId>
              </a:tblPr>
              <a:tblGrid>
                <a:gridCol w="395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3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847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771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>
                        <a:solidFill>
                          <a:srgbClr val="4811C5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Название столбца</a:t>
                      </a:r>
                      <a:endParaRPr sz="1600"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>
                          <a:solidFill>
                            <a:srgbClr val="000000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Текст нежирным шрифтом</a:t>
                      </a:r>
                      <a:endParaRPr sz="1300">
                        <a:solidFill>
                          <a:srgbClr val="000000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b="1">
                          <a:solidFill>
                            <a:srgbClr val="9857F3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b="1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 плашки + иллюстрация">
  <p:cSld name="SECTION_TITLE_AND_DESCRIPTION"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  <p:sp>
        <p:nvSpPr>
          <p:cNvPr id="101" name="Google Shape;101;p24"/>
          <p:cNvSpPr/>
          <p:nvPr/>
        </p:nvSpPr>
        <p:spPr>
          <a:xfrm>
            <a:off x="791625" y="1039150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2" name="Google Shape;102;p24"/>
          <p:cNvSpPr/>
          <p:nvPr/>
        </p:nvSpPr>
        <p:spPr>
          <a:xfrm>
            <a:off x="791625" y="1904882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3" name="Google Shape;103;p24"/>
          <p:cNvSpPr/>
          <p:nvPr/>
        </p:nvSpPr>
        <p:spPr>
          <a:xfrm>
            <a:off x="791625" y="2770607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04" name="Google Shape;104;p24"/>
          <p:cNvSpPr/>
          <p:nvPr/>
        </p:nvSpPr>
        <p:spPr>
          <a:xfrm>
            <a:off x="791625" y="3636339"/>
            <a:ext cx="3640800" cy="705900"/>
          </a:xfrm>
          <a:prstGeom prst="roundRect">
            <a:avLst>
              <a:gd name="adj" fmla="val 16667"/>
            </a:avLst>
          </a:prstGeom>
          <a:solidFill>
            <a:srgbClr val="EEEEEE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05" name="Google Shape;105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5533900" y="1409075"/>
            <a:ext cx="2468700" cy="2468700"/>
          </a:xfrm>
          <a:prstGeom prst="roundRect">
            <a:avLst>
              <a:gd name="adj" fmla="val 16667"/>
            </a:avLst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5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 блока">
  <p:cSld name="CUSTOM_7"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10" name="Google Shape;110;p26"/>
          <p:cNvSpPr/>
          <p:nvPr/>
        </p:nvSpPr>
        <p:spPr>
          <a:xfrm>
            <a:off x="932713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1" name="Google Shape;111;p26"/>
          <p:cNvSpPr/>
          <p:nvPr/>
        </p:nvSpPr>
        <p:spPr>
          <a:xfrm>
            <a:off x="3436420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2" name="Google Shape;112;p26"/>
          <p:cNvSpPr/>
          <p:nvPr/>
        </p:nvSpPr>
        <p:spPr>
          <a:xfrm>
            <a:off x="5940127" y="1748200"/>
            <a:ext cx="2127900" cy="29298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13" name="Google Shape;113;p26"/>
          <p:cNvSpPr txBox="1"/>
          <p:nvPr/>
        </p:nvSpPr>
        <p:spPr>
          <a:xfrm>
            <a:off x="1073575" y="2074863"/>
            <a:ext cx="18462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 sz="1100"/>
          </a:p>
        </p:txBody>
      </p:sp>
      <p:sp>
        <p:nvSpPr>
          <p:cNvPr id="114" name="Google Shape;114;p26"/>
          <p:cNvSpPr txBox="1"/>
          <p:nvPr/>
        </p:nvSpPr>
        <p:spPr>
          <a:xfrm>
            <a:off x="3530920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  <p:sp>
        <p:nvSpPr>
          <p:cNvPr id="115" name="Google Shape;115;p26"/>
          <p:cNvSpPr txBox="1"/>
          <p:nvPr/>
        </p:nvSpPr>
        <p:spPr>
          <a:xfrm>
            <a:off x="6080975" y="2074863"/>
            <a:ext cx="1938900" cy="35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100">
                <a:solidFill>
                  <a:srgbClr val="333333"/>
                </a:solidFill>
                <a:latin typeface="Roboto"/>
                <a:ea typeface="Roboto"/>
                <a:cs typeface="Roboto"/>
                <a:sym typeface="Roboto"/>
              </a:rPr>
              <a:t>Поле для текста</a:t>
            </a:r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ажный тезис крупным шрифтом " type="secHead">
  <p:cSld name="SECTION_HEADER"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8"/>
          <p:cNvSpPr txBox="1">
            <a:spLocks noGrp="1"/>
          </p:cNvSpPr>
          <p:nvPr>
            <p:ph type="title"/>
          </p:nvPr>
        </p:nvSpPr>
        <p:spPr>
          <a:xfrm>
            <a:off x="500550" y="1940306"/>
            <a:ext cx="79353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22" name="Google Shape;122;p2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">
  <p:cSld name="CUSTOM_3"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0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1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7" Type="http://schemas.openxmlformats.org/officeDocument/2006/relationships/slideLayout" Target="../slideLayouts/slideLayout21.xml"/><Relationship Id="rId12" Type="http://schemas.openxmlformats.org/officeDocument/2006/relationships/image" Target="../media/image1.png"/><Relationship Id="rId2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theme" Target="../theme/theme2.xml"/><Relationship Id="rId5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4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7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5" Type="http://schemas.openxmlformats.org/officeDocument/2006/relationships/image" Target="../media/image1.png"/><Relationship Id="rId4" Type="http://schemas.openxmlformats.org/officeDocument/2006/relationships/theme" Target="../theme/theme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6">
            <a:alphaModFix/>
          </a:blip>
          <a:stretch>
            <a:fillRect/>
          </a:stretch>
        </a:blip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12">
            <a:alphaModFix/>
          </a:blip>
          <a:stretch>
            <a:fillRect/>
          </a:stretch>
        </a:blipFill>
        <a:effectLst/>
      </p:bgPr>
    </p:bg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6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sz="30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7" name="Google Shape;67;p16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●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○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boto"/>
              <a:buChar char="■"/>
              <a:defRPr sz="13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68" name="Google Shape;68;p1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2" r:id="rId1"/>
    <p:sldLayoutId id="2147483663" r:id="rId2"/>
    <p:sldLayoutId id="2147483664" r:id="rId3"/>
    <p:sldLayoutId id="2147483665" r:id="rId4"/>
    <p:sldLayoutId id="2147483666" r:id="rId5"/>
    <p:sldLayoutId id="2147483667" r:id="rId6"/>
    <p:sldLayoutId id="2147483668" r:id="rId7"/>
    <p:sldLayoutId id="2147483669" r:id="rId8"/>
    <p:sldLayoutId id="2147483670" r:id="rId9"/>
    <p:sldLayoutId id="2147483671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blipFill>
          <a:blip r:embed="rId5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7"/>
          <p:cNvSpPr txBox="1">
            <a:spLocks noGrp="1"/>
          </p:cNvSpPr>
          <p:nvPr>
            <p:ph type="title"/>
          </p:nvPr>
        </p:nvSpPr>
        <p:spPr>
          <a:xfrm>
            <a:off x="500550" y="330736"/>
            <a:ext cx="8520600" cy="97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100"/>
              <a:buFont typeface="Roboto"/>
              <a:buNone/>
              <a:defRPr sz="3100" b="1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Roboto"/>
              <a:buNone/>
              <a:defRPr sz="28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8" name="Google Shape;118;p27"/>
          <p:cNvSpPr txBox="1">
            <a:spLocks noGrp="1"/>
          </p:cNvSpPr>
          <p:nvPr>
            <p:ph type="body" idx="1"/>
          </p:nvPr>
        </p:nvSpPr>
        <p:spPr>
          <a:xfrm>
            <a:off x="424350" y="1578869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365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Roboto"/>
              <a:buChar char="●"/>
              <a:defRPr sz="17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238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Roboto"/>
              <a:buChar char="○"/>
              <a:defRPr sz="150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●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○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115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00"/>
              <a:buFont typeface="Roboto"/>
              <a:buChar char="■"/>
              <a:defRPr sz="13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  <p:sp>
        <p:nvSpPr>
          <p:cNvPr id="119" name="Google Shape;119;p2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6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0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35"/>
          <p:cNvPicPr preferRelativeResize="0"/>
          <p:nvPr/>
        </p:nvPicPr>
        <p:blipFill rotWithShape="1">
          <a:blip r:embed="rId3">
            <a:alphaModFix/>
          </a:blip>
          <a:srcRect l="18598" r="18592"/>
          <a:stretch/>
        </p:blipFill>
        <p:spPr>
          <a:xfrm>
            <a:off x="-75950" y="-3216975"/>
            <a:ext cx="9408753" cy="8360474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35"/>
          <p:cNvSpPr txBox="1"/>
          <p:nvPr/>
        </p:nvSpPr>
        <p:spPr>
          <a:xfrm>
            <a:off x="433125" y="1534950"/>
            <a:ext cx="7584300" cy="2054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90000"/>
              </a:lnSpc>
            </a:pPr>
            <a:r>
              <a:rPr lang="ru-RU" sz="4500" b="1" dirty="0" smtClean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Сквозной аудит </a:t>
            </a:r>
            <a:r>
              <a:rPr lang="ru-RU" sz="45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качества данных в домене </a:t>
            </a:r>
            <a:r>
              <a:rPr lang="ru-RU" sz="4500" b="1" dirty="0" err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Customer</a:t>
            </a:r>
            <a:r>
              <a:rPr lang="ru-RU" sz="4500" b="1" dirty="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 360</a:t>
            </a:r>
            <a:endParaRPr sz="4500" b="1" dirty="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148" name="Google Shape;148;p3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913700" y="268875"/>
            <a:ext cx="822175" cy="284625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35"/>
          <p:cNvSpPr/>
          <p:nvPr/>
        </p:nvSpPr>
        <p:spPr>
          <a:xfrm>
            <a:off x="629700" y="4138025"/>
            <a:ext cx="2920500" cy="426600"/>
          </a:xfrm>
          <a:prstGeom prst="roundRect">
            <a:avLst>
              <a:gd name="adj" fmla="val 16667"/>
            </a:avLst>
          </a:prstGeom>
          <a:solidFill>
            <a:srgbClr val="3F299A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50" name="Google Shape;150;p35"/>
          <p:cNvSpPr txBox="1"/>
          <p:nvPr/>
        </p:nvSpPr>
        <p:spPr>
          <a:xfrm>
            <a:off x="886050" y="4127375"/>
            <a:ext cx="2481618" cy="44778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 algn="ctr">
              <a:lnSpc>
                <a:spcPct val="90000"/>
              </a:lnSpc>
            </a:pPr>
            <a:r>
              <a:rPr lang="en-US" sz="1900" dirty="0" smtClean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Data </a:t>
            </a:r>
            <a:r>
              <a:rPr lang="en-US" sz="1900" dirty="0">
                <a:solidFill>
                  <a:srgbClr val="FFFFFF"/>
                </a:solidFill>
                <a:latin typeface="Roboto Medium"/>
                <a:ea typeface="Roboto Medium"/>
                <a:cs typeface="Roboto Medium"/>
                <a:sym typeface="Roboto Medium"/>
              </a:rPr>
              <a:t>Quality</a:t>
            </a:r>
            <a:endParaRPr sz="1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151" name="Google Shape;151;p35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7409723" y="3083693"/>
            <a:ext cx="1548451" cy="16694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6"/>
          <p:cNvSpPr txBox="1">
            <a:spLocks noGrp="1"/>
          </p:cNvSpPr>
          <p:nvPr>
            <p:ph type="title"/>
          </p:nvPr>
        </p:nvSpPr>
        <p:spPr>
          <a:xfrm>
            <a:off x="744125" y="1415974"/>
            <a:ext cx="7935300" cy="1416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000">
                <a:solidFill>
                  <a:schemeClr val="dk1"/>
                </a:solidFill>
              </a:rPr>
              <a:t>Меня хорошо видно</a:t>
            </a:r>
            <a:endParaRPr sz="4000">
              <a:solidFill>
                <a:schemeClr val="dk1"/>
              </a:solidFill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>
                <a:solidFill>
                  <a:schemeClr val="dk1"/>
                </a:solidFill>
              </a:rPr>
              <a:t>&amp; слышно?</a:t>
            </a:r>
            <a:endParaRPr sz="4000">
              <a:solidFill>
                <a:schemeClr val="dk1"/>
              </a:solidFill>
            </a:endParaRPr>
          </a:p>
        </p:txBody>
      </p:sp>
      <p:pic>
        <p:nvPicPr>
          <p:cNvPr id="157" name="Google Shape;157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44062" y="3841075"/>
            <a:ext cx="545712" cy="54571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3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5575" y="3890890"/>
            <a:ext cx="537262" cy="53726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37"/>
          <p:cNvSpPr txBox="1">
            <a:spLocks noGrp="1"/>
          </p:cNvSpPr>
          <p:nvPr>
            <p:ph type="title"/>
          </p:nvPr>
        </p:nvSpPr>
        <p:spPr>
          <a:xfrm>
            <a:off x="500550" y="313624"/>
            <a:ext cx="8520600" cy="1841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3000" dirty="0"/>
              <a:t>Защита проекта</a:t>
            </a:r>
            <a:endParaRPr sz="3000" dirty="0"/>
          </a:p>
          <a:p>
            <a:pPr>
              <a:buSzPts val="1100"/>
            </a:pPr>
            <a:r>
              <a:rPr lang="ru" sz="3000" dirty="0"/>
              <a:t>Тема: </a:t>
            </a:r>
            <a:r>
              <a:rPr lang="ru-RU" sz="2800" b="0" dirty="0" smtClean="0"/>
              <a:t>Сквозной аудит </a:t>
            </a:r>
            <a:r>
              <a:rPr lang="ru-RU" sz="2800" b="0" dirty="0"/>
              <a:t>качества данных в домене </a:t>
            </a:r>
            <a:r>
              <a:rPr lang="ru-RU" sz="2800" b="0" dirty="0" err="1"/>
              <a:t>Customer</a:t>
            </a:r>
            <a:r>
              <a:rPr lang="ru-RU" sz="2800" b="0" dirty="0"/>
              <a:t> 360</a:t>
            </a:r>
            <a:r>
              <a:rPr lang="ru-RU" sz="2800" dirty="0"/>
              <a:t/>
            </a:r>
            <a:br>
              <a:rPr lang="ru-RU" sz="2800" dirty="0"/>
            </a:b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65" name="Google Shape;165;p37"/>
          <p:cNvSpPr txBox="1"/>
          <p:nvPr/>
        </p:nvSpPr>
        <p:spPr>
          <a:xfrm>
            <a:off x="3899475" y="2580774"/>
            <a:ext cx="3958418" cy="37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2300" b="1" dirty="0" smtClean="0">
                <a:solidFill>
                  <a:srgbClr val="3F299A"/>
                </a:solidFill>
                <a:latin typeface="Roboto"/>
                <a:ea typeface="Roboto"/>
                <a:cs typeface="Roboto"/>
                <a:sym typeface="Roboto"/>
              </a:rPr>
              <a:t>Воздвиженская Людмила</a:t>
            </a:r>
            <a:endParaRPr sz="2300" b="1" dirty="0">
              <a:solidFill>
                <a:srgbClr val="3F299A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66" name="Google Shape;166;p37"/>
          <p:cNvSpPr txBox="1"/>
          <p:nvPr/>
        </p:nvSpPr>
        <p:spPr>
          <a:xfrm>
            <a:off x="3899475" y="3137748"/>
            <a:ext cx="3193200" cy="6647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1300" dirty="0" smtClean="0">
                <a:latin typeface="Roboto Medium"/>
                <a:ea typeface="Roboto Medium"/>
                <a:cs typeface="Roboto Medium"/>
                <a:sym typeface="Roboto Medium"/>
              </a:rPr>
              <a:t>ИТ-лидер команды разработки </a:t>
            </a:r>
            <a:r>
              <a:rPr lang="en-US" sz="1300" dirty="0" smtClean="0">
                <a:latin typeface="Roboto Medium"/>
                <a:ea typeface="Roboto Medium"/>
                <a:cs typeface="Roboto Medium"/>
                <a:sym typeface="Roboto Medium"/>
              </a:rPr>
              <a:t>ML-</a:t>
            </a:r>
            <a:r>
              <a:rPr lang="ru-RU" sz="1300" dirty="0" smtClean="0">
                <a:latin typeface="Roboto Medium"/>
                <a:ea typeface="Roboto Medium"/>
                <a:cs typeface="Roboto Medium"/>
                <a:sym typeface="Roboto Medium"/>
              </a:rPr>
              <a:t>моделей для </a:t>
            </a:r>
            <a:r>
              <a:rPr lang="en-US" sz="1300" dirty="0" smtClean="0">
                <a:latin typeface="Roboto Medium"/>
                <a:ea typeface="Roboto Medium"/>
                <a:cs typeface="Roboto Medium"/>
                <a:sym typeface="Roboto Medium"/>
              </a:rPr>
              <a:t>CRM</a:t>
            </a:r>
            <a:endParaRPr sz="1300" dirty="0">
              <a:solidFill>
                <a:srgbClr val="000000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251" y="2030427"/>
            <a:ext cx="2444208" cy="2332647"/>
          </a:xfrm>
          <a:prstGeom prst="flowChartConnector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38"/>
          <p:cNvSpPr txBox="1">
            <a:spLocks noGrp="1"/>
          </p:cNvSpPr>
          <p:nvPr>
            <p:ph type="title"/>
          </p:nvPr>
        </p:nvSpPr>
        <p:spPr>
          <a:xfrm>
            <a:off x="538550" y="348974"/>
            <a:ext cx="8520600" cy="661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/>
              <a:t>План защиты</a:t>
            </a:r>
            <a:endParaRPr/>
          </a:p>
        </p:txBody>
      </p:sp>
      <p:sp>
        <p:nvSpPr>
          <p:cNvPr id="172" name="Google Shape;172;p38"/>
          <p:cNvSpPr/>
          <p:nvPr/>
        </p:nvSpPr>
        <p:spPr>
          <a:xfrm>
            <a:off x="1138125" y="149130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Цель и задачи проекта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3" name="Google Shape;173;p38"/>
          <p:cNvSpPr/>
          <p:nvPr/>
        </p:nvSpPr>
        <p:spPr>
          <a:xfrm>
            <a:off x="1138125" y="2071492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Какие технологии использовались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4" name="Google Shape;174;p38"/>
          <p:cNvSpPr/>
          <p:nvPr/>
        </p:nvSpPr>
        <p:spPr>
          <a:xfrm>
            <a:off x="1138125" y="2651676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Что получилось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175" name="Google Shape;175;p38"/>
          <p:cNvSpPr/>
          <p:nvPr/>
        </p:nvSpPr>
        <p:spPr>
          <a:xfrm>
            <a:off x="1138125" y="324622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Выводы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176" name="Google Shape;176;p38"/>
          <p:cNvCxnSpPr>
            <a:stCxn id="172" idx="1"/>
            <a:endCxn id="173" idx="1"/>
          </p:cNvCxnSpPr>
          <p:nvPr/>
        </p:nvCxnSpPr>
        <p:spPr>
          <a:xfrm>
            <a:off x="1138125" y="167940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7" name="Google Shape;177;p38"/>
          <p:cNvCxnSpPr>
            <a:stCxn id="173" idx="1"/>
            <a:endCxn id="174" idx="1"/>
          </p:cNvCxnSpPr>
          <p:nvPr/>
        </p:nvCxnSpPr>
        <p:spPr>
          <a:xfrm>
            <a:off x="1138125" y="2259592"/>
            <a:ext cx="600" cy="5802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8" name="Google Shape;178;p38"/>
          <p:cNvCxnSpPr>
            <a:stCxn id="174" idx="1"/>
            <a:endCxn id="175" idx="1"/>
          </p:cNvCxnSpPr>
          <p:nvPr/>
        </p:nvCxnSpPr>
        <p:spPr>
          <a:xfrm>
            <a:off x="1138125" y="2839776"/>
            <a:ext cx="600" cy="5946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79" name="Google Shape;179;p38"/>
          <p:cNvCxnSpPr>
            <a:stCxn id="175" idx="1"/>
            <a:endCxn id="180" idx="1"/>
          </p:cNvCxnSpPr>
          <p:nvPr/>
        </p:nvCxnSpPr>
        <p:spPr>
          <a:xfrm>
            <a:off x="1138125" y="3434325"/>
            <a:ext cx="600" cy="526800"/>
          </a:xfrm>
          <a:prstGeom prst="bentConnector3">
            <a:avLst>
              <a:gd name="adj1" fmla="val -39687500"/>
            </a:avLst>
          </a:prstGeom>
          <a:noFill/>
          <a:ln w="9525" cap="flat" cmpd="sng">
            <a:solidFill>
              <a:srgbClr val="3F299A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180" name="Google Shape;180;p38"/>
          <p:cNvSpPr/>
          <p:nvPr/>
        </p:nvSpPr>
        <p:spPr>
          <a:xfrm>
            <a:off x="1138137" y="3772875"/>
            <a:ext cx="3384900" cy="376200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39"/>
          <p:cNvSpPr txBox="1"/>
          <p:nvPr/>
        </p:nvSpPr>
        <p:spPr>
          <a:xfrm>
            <a:off x="560500" y="324881"/>
            <a:ext cx="8520600" cy="1306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Цел</a:t>
            </a:r>
            <a:r>
              <a:rPr lang="ru" sz="3000" b="1">
                <a:latin typeface="Roboto"/>
                <a:ea typeface="Roboto"/>
                <a:cs typeface="Roboto"/>
                <a:sym typeface="Roboto"/>
              </a:rPr>
              <a:t>ь и задачи</a:t>
            </a:r>
            <a:r>
              <a:rPr lang="ru" sz="3000" b="1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 проекта</a:t>
            </a:r>
            <a:endParaRPr sz="3000" b="1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186" name="Google Shape;186;p39"/>
          <p:cNvGraphicFramePr/>
          <p:nvPr>
            <p:extLst>
              <p:ext uri="{D42A27DB-BD31-4B8C-83A1-F6EECF244321}">
                <p14:modId xmlns:p14="http://schemas.microsoft.com/office/powerpoint/2010/main" val="765356120"/>
              </p:ext>
            </p:extLst>
          </p:nvPr>
        </p:nvGraphicFramePr>
        <p:xfrm>
          <a:off x="952500" y="2302376"/>
          <a:ext cx="7239000" cy="3187042"/>
        </p:xfrm>
        <a:graphic>
          <a:graphicData uri="http://schemas.openxmlformats.org/drawingml/2006/table">
            <a:tbl>
              <a:tblPr>
                <a:noFill/>
                <a:tableStyleId>{29A2813C-73D9-4D50-8B73-B82EC4B9FD58}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946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Провести профилирование данных и выявить ключевые проблемы (дубликаты клиентов, аномалии платежей, пропуски адресов доставки).</a:t>
                      </a:r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46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Создать реестр бизнес-правил проверки и автоматизировать их выполнение через </a:t>
                      </a:r>
                      <a:r>
                        <a:rPr lang="ru-RU" dirty="0" err="1" smtClean="0"/>
                        <a:t>Soda</a:t>
                      </a:r>
                      <a:r>
                        <a:rPr lang="ru-RU" dirty="0" smtClean="0"/>
                        <a:t> </a:t>
                      </a:r>
                      <a:r>
                        <a:rPr lang="ru-RU" dirty="0" err="1" smtClean="0"/>
                        <a:t>Core</a:t>
                      </a:r>
                      <a:r>
                        <a:rPr lang="ru-RU" dirty="0" smtClean="0"/>
                        <a:t>.</a:t>
                      </a:r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46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ru-RU" dirty="0" smtClean="0"/>
                        <a:t>Разработать DQ-</a:t>
                      </a:r>
                      <a:r>
                        <a:rPr lang="ru-RU" dirty="0" err="1" smtClean="0"/>
                        <a:t>пайплайн</a:t>
                      </a:r>
                      <a:r>
                        <a:rPr lang="ru-RU" dirty="0" smtClean="0"/>
                        <a:t> на </a:t>
                      </a:r>
                      <a:r>
                        <a:rPr lang="ru-RU" dirty="0" err="1" smtClean="0"/>
                        <a:t>Python</a:t>
                      </a:r>
                      <a:r>
                        <a:rPr lang="ru-RU" dirty="0" smtClean="0"/>
                        <a:t>/</a:t>
                      </a:r>
                      <a:r>
                        <a:rPr lang="ru-RU" dirty="0" err="1" smtClean="0"/>
                        <a:t>Airflow</a:t>
                      </a:r>
                      <a:r>
                        <a:rPr lang="ru-RU" dirty="0" smtClean="0"/>
                        <a:t> и интегрировать его в ETL-процессы.</a:t>
                      </a:r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5528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4</a:t>
                      </a: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.</a:t>
                      </a: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en-US" sz="1600" b="1" dirty="0" smtClean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5.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+mj-lt"/>
                        <a:buNone/>
                      </a:pPr>
                      <a:r>
                        <a:rPr lang="ru-RU" dirty="0" smtClean="0"/>
                        <a:t>Спроектировать </a:t>
                      </a:r>
                      <a:r>
                        <a:rPr lang="ru-RU" dirty="0" err="1" smtClean="0"/>
                        <a:t>дашборды</a:t>
                      </a:r>
                      <a:r>
                        <a:rPr lang="ru-RU" dirty="0" smtClean="0"/>
                        <a:t> для бизнеса и инженеров.</a:t>
                      </a:r>
                      <a:endParaRPr lang="en-US" dirty="0" smtClean="0"/>
                    </a:p>
                    <a:p>
                      <a:pPr marL="0" indent="0">
                        <a:buFont typeface="+mj-lt"/>
                        <a:buNone/>
                      </a:pPr>
                      <a:endParaRPr lang="en-US" dirty="0" smtClean="0"/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+mj-lt"/>
                        <a:buNone/>
                        <a:tabLst/>
                        <a:defRPr/>
                      </a:pPr>
                      <a:r>
                        <a:rPr lang="ru-RU" dirty="0" smtClean="0"/>
                        <a:t>Оценить </a:t>
                      </a:r>
                      <a:r>
                        <a:rPr lang="en-US" dirty="0" smtClean="0"/>
                        <a:t>ROI </a:t>
                      </a:r>
                      <a:r>
                        <a:rPr lang="ru-RU" dirty="0" smtClean="0"/>
                        <a:t>внедрения системы.</a:t>
                      </a:r>
                      <a:endParaRPr lang="ru-RU" dirty="0"/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7466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87" name="Google Shape;187;p39"/>
          <p:cNvSpPr/>
          <p:nvPr/>
        </p:nvSpPr>
        <p:spPr>
          <a:xfrm>
            <a:off x="1628249" y="996176"/>
            <a:ext cx="6177605" cy="1100253"/>
          </a:xfrm>
          <a:prstGeom prst="roundRect">
            <a:avLst>
              <a:gd name="adj" fmla="val 16667"/>
            </a:avLst>
          </a:prstGeom>
          <a:solidFill>
            <a:schemeClr val="lt2"/>
          </a:solidFill>
          <a:ln>
            <a:noFill/>
          </a:ln>
          <a:effectLst>
            <a:outerShdw blurRad="57150" dist="19050" dir="5400000" algn="bl" rotWithShape="0">
              <a:srgbClr val="000000">
                <a:alpha val="50000"/>
              </a:srgbClr>
            </a:outerShdw>
          </a:effectLst>
        </p:spPr>
        <p:txBody>
          <a:bodyPr spcFirstLastPara="1" wrap="square" lIns="162000" tIns="91425" rIns="162000" bIns="91425" anchor="ctr" anchorCtr="0">
            <a:noAutofit/>
          </a:bodyPr>
          <a:lstStyle/>
          <a:p>
            <a:endParaRPr lang="en-US" sz="1500" dirty="0" smtClean="0">
              <a:solidFill>
                <a:schemeClr val="dk1"/>
              </a:solidFill>
              <a:latin typeface="Roboto Medium" panose="020B0604020202020204" charset="0"/>
              <a:ea typeface="Roboto Medium" panose="020B0604020202020204" charset="0"/>
              <a:cs typeface="Roboto Medium"/>
              <a:sym typeface="Roboto Medium"/>
            </a:endParaRPr>
          </a:p>
          <a:p>
            <a:r>
              <a:rPr lang="ru" sz="1500" dirty="0" smtClean="0">
                <a:solidFill>
                  <a:schemeClr val="dk1"/>
                </a:solidFill>
                <a:latin typeface="Roboto Medium" panose="020B0604020202020204" charset="0"/>
                <a:ea typeface="Roboto Medium" panose="020B0604020202020204" charset="0"/>
                <a:cs typeface="Roboto Medium"/>
                <a:sym typeface="Roboto Medium"/>
              </a:rPr>
              <a:t>Цель проекта: </a:t>
            </a:r>
            <a:r>
              <a:rPr lang="ru-RU" sz="1500" dirty="0">
                <a:latin typeface="Roboto Medium" panose="020B0604020202020204" charset="0"/>
                <a:ea typeface="Roboto Medium" panose="020B0604020202020204" charset="0"/>
              </a:rPr>
              <a:t>Построить систему контроля качества данных о клиентах (</a:t>
            </a:r>
            <a:r>
              <a:rPr lang="ru-RU" sz="1500" i="1" dirty="0" err="1">
                <a:latin typeface="Roboto Medium" panose="020B0604020202020204" charset="0"/>
                <a:ea typeface="Roboto Medium" panose="020B0604020202020204" charset="0"/>
              </a:rPr>
              <a:t>Customer</a:t>
            </a:r>
            <a:r>
              <a:rPr lang="ru-RU" sz="1500" i="1" dirty="0">
                <a:latin typeface="Roboto Medium" panose="020B0604020202020204" charset="0"/>
                <a:ea typeface="Roboto Medium" panose="020B0604020202020204" charset="0"/>
              </a:rPr>
              <a:t> 360</a:t>
            </a:r>
            <a:r>
              <a:rPr lang="ru-RU" sz="1500" dirty="0">
                <a:latin typeface="Roboto Medium" panose="020B0604020202020204" charset="0"/>
                <a:ea typeface="Roboto Medium" panose="020B0604020202020204" charset="0"/>
              </a:rPr>
              <a:t>) на основе реальных </a:t>
            </a:r>
            <a:r>
              <a:rPr lang="ru-RU" sz="1500" dirty="0" err="1">
                <a:latin typeface="Roboto Medium" panose="020B0604020202020204" charset="0"/>
                <a:ea typeface="Roboto Medium" panose="020B0604020202020204" charset="0"/>
              </a:rPr>
              <a:t>датасетов</a:t>
            </a:r>
            <a:r>
              <a:rPr lang="ru-RU" sz="1500" dirty="0">
                <a:latin typeface="Roboto Medium" panose="020B0604020202020204" charset="0"/>
                <a:ea typeface="Roboto Medium" panose="020B0604020202020204" charset="0"/>
              </a:rPr>
              <a:t> из CRM, API-логов и выгрузок из операционной системы.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 dirty="0" smtClean="0">
                <a:solidFill>
                  <a:schemeClr val="dk1"/>
                </a:solidFill>
                <a:latin typeface="Roboto Medium"/>
                <a:ea typeface="Roboto Medium"/>
                <a:cs typeface="Roboto Medium"/>
                <a:sym typeface="Roboto Medium"/>
              </a:rPr>
              <a:t> </a:t>
            </a:r>
            <a:endParaRPr sz="1500" dirty="0">
              <a:latin typeface="Roboto Medium"/>
              <a:ea typeface="Roboto Medium"/>
              <a:cs typeface="Roboto Medium"/>
              <a:sym typeface="Roboto Medium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40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/>
              <a:t>Какие технологии использовались</a:t>
            </a:r>
            <a:endParaRPr sz="300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/>
          </a:p>
        </p:txBody>
      </p:sp>
      <p:graphicFrame>
        <p:nvGraphicFramePr>
          <p:cNvPr id="199" name="Google Shape;199;p40"/>
          <p:cNvGraphicFramePr/>
          <p:nvPr>
            <p:extLst>
              <p:ext uri="{D42A27DB-BD31-4B8C-83A1-F6EECF244321}">
                <p14:modId xmlns:p14="http://schemas.microsoft.com/office/powerpoint/2010/main" val="2080996425"/>
              </p:ext>
            </p:extLst>
          </p:nvPr>
        </p:nvGraphicFramePr>
        <p:xfrm>
          <a:off x="815860" y="1046437"/>
          <a:ext cx="7239000" cy="3157578"/>
        </p:xfrm>
        <a:graphic>
          <a:graphicData uri="http://schemas.openxmlformats.org/drawingml/2006/table">
            <a:tbl>
              <a:tblPr>
                <a:noFill/>
                <a:tableStyleId>{29A2813C-73D9-4D50-8B73-B82EC4B9FD58}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1.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600" b="1" dirty="0" err="1" smtClean="0"/>
                        <a:t>Python</a:t>
                      </a:r>
                      <a:r>
                        <a:rPr lang="ru-RU" sz="1600" b="1" dirty="0" smtClean="0"/>
                        <a:t> + </a:t>
                      </a:r>
                      <a:r>
                        <a:rPr lang="ru-RU" sz="1600" b="1" dirty="0" err="1" smtClean="0"/>
                        <a:t>Pandas</a:t>
                      </a:r>
                      <a:r>
                        <a:rPr lang="ru-RU" sz="1600" b="1" dirty="0" smtClean="0"/>
                        <a:t>/</a:t>
                      </a:r>
                      <a:r>
                        <a:rPr lang="ru-RU" sz="1600" b="1" dirty="0" err="1" smtClean="0"/>
                        <a:t>Soda</a:t>
                      </a:r>
                      <a:r>
                        <a:rPr lang="ru-RU" sz="1600" b="1" dirty="0" smtClean="0"/>
                        <a:t> </a:t>
                      </a:r>
                      <a:r>
                        <a:rPr lang="ru-RU" sz="1600" b="1" dirty="0" err="1" smtClean="0"/>
                        <a:t>Core</a:t>
                      </a:r>
                      <a:r>
                        <a:rPr lang="ru-RU" sz="1600" b="1" dirty="0" smtClean="0"/>
                        <a:t>:</a:t>
                      </a:r>
                      <a:r>
                        <a:rPr lang="ru-RU" sz="1600" dirty="0" smtClean="0"/>
                        <a:t> Для профилирования и разработки правил.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2.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600" b="1" dirty="0" err="1" smtClean="0"/>
                        <a:t>Apache</a:t>
                      </a:r>
                      <a:r>
                        <a:rPr lang="ru-RU" sz="1600" b="1" dirty="0" smtClean="0"/>
                        <a:t> </a:t>
                      </a:r>
                      <a:r>
                        <a:rPr lang="ru-RU" sz="1600" b="1" dirty="0" err="1" smtClean="0"/>
                        <a:t>Airflow</a:t>
                      </a:r>
                      <a:r>
                        <a:rPr lang="ru-RU" sz="1600" b="1" dirty="0" smtClean="0"/>
                        <a:t>:</a:t>
                      </a:r>
                      <a:r>
                        <a:rPr lang="ru-RU" sz="1600" dirty="0" smtClean="0"/>
                        <a:t> Для автоматизации проверок и </a:t>
                      </a:r>
                      <a:r>
                        <a:rPr lang="ru-RU" sz="1600" dirty="0" err="1" smtClean="0"/>
                        <a:t>оркестрации</a:t>
                      </a:r>
                      <a:r>
                        <a:rPr lang="ru-RU" sz="1600" dirty="0" smtClean="0"/>
                        <a:t> </a:t>
                      </a:r>
                      <a:r>
                        <a:rPr lang="ru-RU" sz="1600" dirty="0" err="1" smtClean="0"/>
                        <a:t>пайплайнов</a:t>
                      </a:r>
                      <a:r>
                        <a:rPr lang="ru-RU" sz="1600" dirty="0" smtClean="0"/>
                        <a:t>.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3.</a:t>
                      </a:r>
                      <a:endParaRPr sz="1600" b="1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600" b="1" dirty="0" smtClean="0"/>
                        <a:t>BI-система (</a:t>
                      </a:r>
                      <a:r>
                        <a:rPr lang="en-US" sz="1600" b="1" dirty="0" err="1" smtClean="0"/>
                        <a:t>Graphana</a:t>
                      </a:r>
                      <a:r>
                        <a:rPr lang="ru-RU" sz="1600" b="1" dirty="0" smtClean="0"/>
                        <a:t>):</a:t>
                      </a:r>
                      <a:r>
                        <a:rPr lang="ru-RU" sz="1600" dirty="0" smtClean="0"/>
                        <a:t> Для визуализации метрик качества.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600" i="1" dirty="0" smtClean="0"/>
                        <a:t>Вывод:</a:t>
                      </a:r>
                      <a:r>
                        <a:rPr lang="ru-RU" sz="1600" dirty="0" smtClean="0"/>
                        <a:t> Использование </a:t>
                      </a:r>
                      <a:r>
                        <a:rPr lang="ru-RU" sz="1600" dirty="0" err="1" smtClean="0"/>
                        <a:t>open-source</a:t>
                      </a:r>
                      <a:r>
                        <a:rPr lang="ru-RU" sz="1600" dirty="0" smtClean="0"/>
                        <a:t> инструментов позволило быстро создать MVP без дополнительных затрат.</a:t>
                      </a:r>
                      <a:endParaRPr sz="1600" dirty="0">
                        <a:solidFill>
                          <a:schemeClr val="dk1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10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600" dirty="0">
                        <a:solidFill>
                          <a:srgbClr val="9857F3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9975" y="1636006"/>
            <a:ext cx="2487384" cy="3097036"/>
          </a:xfrm>
          <a:prstGeom prst="rect">
            <a:avLst/>
          </a:prstGeom>
        </p:spPr>
      </p:pic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283428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 smtClean="0"/>
              <a:t>Проект</a:t>
            </a:r>
            <a:endParaRPr sz="3000" dirty="0"/>
          </a:p>
        </p:txBody>
      </p:sp>
      <p:sp>
        <p:nvSpPr>
          <p:cNvPr id="2" name="TextBox 1"/>
          <p:cNvSpPr txBox="1"/>
          <p:nvPr/>
        </p:nvSpPr>
        <p:spPr>
          <a:xfrm>
            <a:off x="500549" y="998346"/>
            <a:ext cx="84227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800" b="1" dirty="0">
                <a:solidFill>
                  <a:schemeClr val="accent1">
                    <a:lumMod val="50000"/>
                  </a:schemeClr>
                </a:solidFill>
                <a:latin typeface="Roboto Medium" panose="020B0604020202020204" charset="0"/>
                <a:ea typeface="Roboto Medium" panose="020B0604020202020204" charset="0"/>
              </a:rPr>
              <a:t>А</a:t>
            </a:r>
            <a:r>
              <a:rPr lang="ru-RU" sz="1800" b="1" dirty="0" smtClean="0">
                <a:solidFill>
                  <a:schemeClr val="accent1">
                    <a:lumMod val="50000"/>
                  </a:schemeClr>
                </a:solidFill>
                <a:latin typeface="Roboto Medium" panose="020B0604020202020204" charset="0"/>
                <a:ea typeface="Roboto Medium" panose="020B0604020202020204" charset="0"/>
              </a:rPr>
              <a:t>рхив проекта: </a:t>
            </a:r>
            <a:r>
              <a:rPr lang="en-US" sz="1500" dirty="0" smtClean="0">
                <a:solidFill>
                  <a:schemeClr val="tx1"/>
                </a:solidFill>
                <a:latin typeface="Roboto Medium" panose="020B0604020202020204" charset="0"/>
                <a:ea typeface="Roboto Medium" panose="020B0604020202020204" charset="0"/>
              </a:rPr>
              <a:t>https://github.com/Vesta080283/customer-360-dq-project.git</a:t>
            </a:r>
            <a:endParaRPr lang="ru-RU" dirty="0">
              <a:solidFill>
                <a:schemeClr val="tx1"/>
              </a:solidFill>
            </a:endParaRPr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7828" y="1896056"/>
            <a:ext cx="2427932" cy="2546368"/>
          </a:xfrm>
          <a:prstGeom prst="rect">
            <a:avLst/>
          </a:prstGeom>
        </p:spPr>
      </p:pic>
      <p:pic>
        <p:nvPicPr>
          <p:cNvPr id="13" name="Google Shape;537;p6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86092" y="2080904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14" name="Google Shape;538;p69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586092" y="2794101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15" name="Google Shape;539;p69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586092" y="3470371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pic>
        <p:nvPicPr>
          <p:cNvPr id="16" name="Google Shape;540;p69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86092" y="4138220"/>
            <a:ext cx="1294150" cy="594822"/>
          </a:xfrm>
          <a:prstGeom prst="rect">
            <a:avLst/>
          </a:prstGeom>
          <a:noFill/>
          <a:ln>
            <a:noFill/>
          </a:ln>
          <a:effectLst>
            <a:outerShdw blurRad="142875" dist="28575" dir="5400000" algn="bl" rotWithShape="0">
              <a:srgbClr val="000000">
                <a:alpha val="41000"/>
              </a:srgbClr>
            </a:outerShdw>
          </a:effectLst>
        </p:spPr>
      </p:pic>
      <p:sp>
        <p:nvSpPr>
          <p:cNvPr id="19" name="Google Shape;543;p69"/>
          <p:cNvSpPr txBox="1"/>
          <p:nvPr/>
        </p:nvSpPr>
        <p:spPr>
          <a:xfrm>
            <a:off x="818979" y="2182143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 dirty="0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1</a:t>
            </a:r>
            <a:endParaRPr b="1" dirty="0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0" name="Google Shape;544;p69"/>
          <p:cNvSpPr txBox="1"/>
          <p:nvPr/>
        </p:nvSpPr>
        <p:spPr>
          <a:xfrm>
            <a:off x="818979" y="2895340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2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1" name="Google Shape;545;p69"/>
          <p:cNvSpPr txBox="1"/>
          <p:nvPr/>
        </p:nvSpPr>
        <p:spPr>
          <a:xfrm>
            <a:off x="818979" y="3571610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3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" name="Google Shape;546;p69"/>
          <p:cNvSpPr txBox="1"/>
          <p:nvPr/>
        </p:nvSpPr>
        <p:spPr>
          <a:xfrm>
            <a:off x="818979" y="4239459"/>
            <a:ext cx="8373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b="1">
                <a:solidFill>
                  <a:schemeClr val="lt2"/>
                </a:solidFill>
                <a:latin typeface="Roboto"/>
                <a:ea typeface="Roboto"/>
                <a:cs typeface="Roboto"/>
                <a:sym typeface="Roboto"/>
              </a:rPr>
              <a:t>Этап 4</a:t>
            </a:r>
            <a:endParaRPr b="1">
              <a:solidFill>
                <a:schemeClr val="lt2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aphicFrame>
        <p:nvGraphicFramePr>
          <p:cNvPr id="24" name="Google Shape;548;p69"/>
          <p:cNvGraphicFramePr/>
          <p:nvPr>
            <p:extLst>
              <p:ext uri="{D42A27DB-BD31-4B8C-83A1-F6EECF244321}">
                <p14:modId xmlns:p14="http://schemas.microsoft.com/office/powerpoint/2010/main" val="2794957136"/>
              </p:ext>
            </p:extLst>
          </p:nvPr>
        </p:nvGraphicFramePr>
        <p:xfrm>
          <a:off x="2113129" y="2181999"/>
          <a:ext cx="3548697" cy="3329790"/>
        </p:xfrm>
        <a:graphic>
          <a:graphicData uri="http://schemas.openxmlformats.org/drawingml/2006/table">
            <a:tbl>
              <a:tblPr>
                <a:noFill/>
                <a:tableStyleId>{29A2813C-73D9-4D50-8B73-B82EC4B9FD58}</a:tableStyleId>
              </a:tblPr>
              <a:tblGrid>
                <a:gridCol w="354869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873523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ru-RU" sz="160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Загрузка</a:t>
                      </a:r>
                      <a:r>
                        <a:rPr lang="ru-RU" sz="1600" baseline="0" dirty="0" smtClean="0">
                          <a:solidFill>
                            <a:schemeClr val="dk1"/>
                          </a:solidFill>
                          <a:latin typeface="Roboto"/>
                          <a:ea typeface="Roboto"/>
                          <a:sym typeface="Roboto"/>
                        </a:rPr>
                        <a:t> и анализ источников</a:t>
                      </a: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endParaRPr lang="en-US" sz="1600" baseline="0" dirty="0" smtClean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endParaRPr lang="ru-RU" sz="1600" baseline="0" dirty="0" smtClean="0">
                        <a:solidFill>
                          <a:schemeClr val="dk1"/>
                        </a:solidFill>
                        <a:latin typeface="Roboto"/>
                        <a:ea typeface="Roboto"/>
                        <a:sym typeface="Roboto"/>
                      </a:endParaRPr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en-US" sz="1600" dirty="0" smtClean="0">
                          <a:latin typeface="Roboto Medium" panose="020B0604020202020204" charset="0"/>
                          <a:ea typeface="Roboto Medium" panose="020B0604020202020204" charset="0"/>
                        </a:rPr>
                        <a:t>Profiling</a:t>
                      </a:r>
                      <a:endParaRPr sz="16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08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endParaRPr lang="ru-RU" sz="1500" dirty="0" smtClean="0"/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en-US" sz="1500" dirty="0" smtClean="0">
                          <a:latin typeface="Roboto Medium" panose="020B0604020202020204" charset="0"/>
                          <a:ea typeface="Roboto Medium" panose="020B0604020202020204" charset="0"/>
                        </a:rPr>
                        <a:t>Rules Engine </a:t>
                      </a:r>
                      <a:endParaRPr sz="15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080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endParaRPr lang="ru-RU" sz="1500" dirty="0" smtClean="0"/>
                    </a:p>
                    <a:p>
                      <a:pPr marL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r>
                        <a:rPr lang="en-US" sz="1500" dirty="0" smtClean="0">
                          <a:latin typeface="Roboto Medium" panose="020B0604020202020204" charset="0"/>
                          <a:ea typeface="Roboto Medium" panose="020B0604020202020204" charset="0"/>
                        </a:rPr>
                        <a:t>Dashboards</a:t>
                      </a:r>
                      <a:endParaRPr sz="15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8188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endParaRPr sz="15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8188"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1A1A1A"/>
                        </a:buClr>
                        <a:buSzPts val="1900"/>
                        <a:buFont typeface="Roboto"/>
                        <a:buNone/>
                      </a:pPr>
                      <a:endParaRPr sz="1500" dirty="0"/>
                    </a:p>
                  </a:txBody>
                  <a:tcPr marL="91425" marR="91425" marT="91425" marB="91425">
                    <a:lnL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9E9E9E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377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US" sz="3000" dirty="0">
                <a:solidFill>
                  <a:schemeClr val="tx1"/>
                </a:solidFill>
                <a:latin typeface="Roboto Medium" panose="020B0604020202020204" charset="0"/>
                <a:ea typeface="Roboto Medium" panose="020B0604020202020204" charset="0"/>
              </a:rPr>
              <a:t>DAG </a:t>
            </a:r>
            <a:r>
              <a:rPr lang="ru-RU" sz="3000" dirty="0" err="1">
                <a:solidFill>
                  <a:schemeClr val="tx1"/>
                </a:solidFill>
                <a:latin typeface="Roboto Medium" panose="020B0604020202020204" charset="0"/>
                <a:ea typeface="Roboto Medium" panose="020B0604020202020204" charset="0"/>
              </a:rPr>
              <a:t>Airflow</a:t>
            </a:r>
            <a:r>
              <a:rPr lang="ru-RU" sz="3000" dirty="0">
                <a:solidFill>
                  <a:schemeClr val="tx1"/>
                </a:solidFill>
                <a:latin typeface="Roboto Medium" panose="020B0604020202020204" charset="0"/>
                <a:ea typeface="Roboto Medium" panose="020B0604020202020204" charset="0"/>
              </a:rPr>
              <a:t> для выполнения DQ-задач</a:t>
            </a:r>
            <a:endParaRPr lang="ru-RU" sz="3000" dirty="0">
              <a:solidFill>
                <a:schemeClr val="tx1"/>
              </a:solidFill>
              <a:latin typeface="Roboto Medium" panose="020B0604020202020204" charset="0"/>
              <a:ea typeface="Roboto Medium" panose="020B0604020202020204" charset="0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0550" y="1083725"/>
            <a:ext cx="8362167" cy="300348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669401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3000" dirty="0" err="1" smtClean="0">
                <a:solidFill>
                  <a:schemeClr val="tx1"/>
                </a:solidFill>
                <a:latin typeface="Roboto Medium" panose="020B0604020202020204" charset="0"/>
                <a:ea typeface="Roboto Medium" panose="020B0604020202020204" charset="0"/>
              </a:rPr>
              <a:t>Дашборд</a:t>
            </a:r>
            <a:r>
              <a:rPr lang="ru-RU" sz="3000" dirty="0" smtClean="0">
                <a:solidFill>
                  <a:schemeClr val="tx1"/>
                </a:solidFill>
                <a:latin typeface="Roboto Medium" panose="020B0604020202020204" charset="0"/>
                <a:ea typeface="Roboto Medium" panose="020B0604020202020204" charset="0"/>
              </a:rPr>
              <a:t> </a:t>
            </a:r>
            <a:r>
              <a:rPr lang="ru-RU" sz="3000" dirty="0">
                <a:solidFill>
                  <a:schemeClr val="tx1"/>
                </a:solidFill>
                <a:latin typeface="Roboto Medium" panose="020B0604020202020204" charset="0"/>
                <a:ea typeface="Roboto Medium" panose="020B0604020202020204" charset="0"/>
              </a:rPr>
              <a:t>с метриками качества</a:t>
            </a:r>
            <a:r>
              <a:rPr lang="ru-RU" sz="3200" dirty="0">
                <a:solidFill>
                  <a:schemeClr val="accent1">
                    <a:lumMod val="50000"/>
                  </a:schemeClr>
                </a:solidFill>
                <a:latin typeface="Roboto Medium" panose="020B0604020202020204" charset="0"/>
                <a:ea typeface="Roboto Medium" panose="020B0604020202020204" charset="0"/>
              </a:rPr>
              <a:t/>
            </a:r>
            <a:br>
              <a:rPr lang="ru-RU" sz="3200" dirty="0">
                <a:solidFill>
                  <a:schemeClr val="accent1">
                    <a:lumMod val="50000"/>
                  </a:schemeClr>
                </a:solidFill>
                <a:latin typeface="Roboto Medium" panose="020B0604020202020204" charset="0"/>
                <a:ea typeface="Roboto Medium" panose="020B0604020202020204" charset="0"/>
              </a:rPr>
            </a:br>
            <a:endParaRPr sz="3000" dirty="0"/>
          </a:p>
        </p:txBody>
      </p:sp>
      <p:pic>
        <p:nvPicPr>
          <p:cNvPr id="3" name="Рисунок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1457" y="1135856"/>
            <a:ext cx="8107598" cy="37361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68699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576532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 smtClean="0"/>
              <a:t>Результаты проверок</a:t>
            </a:r>
            <a:endParaRPr sz="3000" dirty="0"/>
          </a:p>
        </p:txBody>
      </p:sp>
      <p:sp>
        <p:nvSpPr>
          <p:cNvPr id="7" name="TextBox 6"/>
          <p:cNvSpPr txBox="1"/>
          <p:nvPr/>
        </p:nvSpPr>
        <p:spPr>
          <a:xfrm>
            <a:off x="628649" y="1041462"/>
            <a:ext cx="2943225" cy="6924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Всего проверок: 12</a:t>
            </a:r>
          </a:p>
          <a:p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Прошли (</a:t>
            </a:r>
            <a:r>
              <a:rPr lang="ru-RU" sz="1300" dirty="0" err="1">
                <a:latin typeface="Roboto" panose="020B0604020202020204" charset="0"/>
                <a:ea typeface="Roboto" panose="020B0604020202020204" charset="0"/>
              </a:rPr>
              <a:t>Passed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): 7</a:t>
            </a:r>
          </a:p>
          <a:p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Не прошли (</a:t>
            </a:r>
            <a:r>
              <a:rPr lang="ru-RU" sz="1300" dirty="0" err="1">
                <a:latin typeface="Roboto" panose="020B0604020202020204" charset="0"/>
                <a:ea typeface="Roboto" panose="020B0604020202020204" charset="0"/>
              </a:rPr>
              <a:t>Failed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):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49" y="1805396"/>
            <a:ext cx="3257551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700" b="1" dirty="0" smtClean="0">
                <a:latin typeface="Roboto" panose="020B0604020202020204" charset="0"/>
                <a:ea typeface="Roboto" panose="020B0604020202020204" charset="0"/>
              </a:rPr>
              <a:t>Выявленные проблемы</a:t>
            </a:r>
            <a:endParaRPr lang="ru-RU" sz="1300" dirty="0">
              <a:latin typeface="Roboto" panose="020B0604020202020204" charset="0"/>
              <a:ea typeface="Roboto" panose="020B0604020202020204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628649" y="2230777"/>
            <a:ext cx="7965282" cy="28777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ru-RU" sz="1500" b="1" dirty="0" smtClean="0">
                <a:latin typeface="Roboto" panose="020B0604020202020204" charset="0"/>
                <a:ea typeface="Roboto" panose="020B0604020202020204" charset="0"/>
              </a:rPr>
              <a:t>Профилирование и схема</a:t>
            </a:r>
          </a:p>
          <a:p>
            <a:pPr marL="536575" lvl="4" indent="-265113">
              <a:buFont typeface="Arial" panose="020B0604020202020204" pitchFamily="34" charset="0"/>
              <a:buChar char="•"/>
            </a:pPr>
            <a:r>
              <a:rPr lang="ru-RU" sz="1300" i="1" dirty="0" err="1">
                <a:latin typeface="Roboto" panose="020B0604020202020204" charset="0"/>
                <a:ea typeface="Roboto" panose="020B0604020202020204" charset="0"/>
              </a:rPr>
              <a:t>Warning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. Столбец </a:t>
            </a:r>
            <a:r>
              <a:rPr lang="ru-RU" sz="1300" dirty="0" err="1">
                <a:latin typeface="Roboto" panose="020B0604020202020204" charset="0"/>
                <a:ea typeface="Roboto" panose="020B0604020202020204" charset="0"/>
              </a:rPr>
              <a:t>TotalCharges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 имеет тип </a:t>
            </a:r>
            <a:r>
              <a:rPr lang="ru-RU" sz="1300" dirty="0" err="1">
                <a:latin typeface="Roboto" panose="020B0604020202020204" charset="0"/>
                <a:ea typeface="Roboto" panose="020B0604020202020204" charset="0"/>
              </a:rPr>
              <a:t>Object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 (вместо </a:t>
            </a:r>
            <a:r>
              <a:rPr lang="ru-RU" sz="1300" dirty="0" err="1">
                <a:latin typeface="Roboto" panose="020B0604020202020204" charset="0"/>
                <a:ea typeface="Roboto" panose="020B0604020202020204" charset="0"/>
              </a:rPr>
              <a:t>Float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) из-за наличия пробелов " ". </a:t>
            </a:r>
            <a:r>
              <a:rPr lang="ru-RU" sz="1300" i="1" dirty="0" err="1" smtClean="0">
                <a:latin typeface="Roboto" panose="020B0604020202020204" charset="0"/>
                <a:ea typeface="Roboto" panose="020B0604020202020204" charset="0"/>
              </a:rPr>
              <a:t>Failed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. 19 записей содержат пустую строку (" </a:t>
            </a:r>
            <a:r>
              <a:rPr lang="ru-RU" sz="1300" dirty="0" smtClean="0">
                <a:latin typeface="Roboto" panose="020B0604020202020204" charset="0"/>
                <a:ea typeface="Roboto" panose="020B0604020202020204" charset="0"/>
              </a:rPr>
              <a:t>").</a:t>
            </a:r>
          </a:p>
          <a:p>
            <a:pPr marL="342900" indent="-342900">
              <a:buAutoNum type="arabicPeriod"/>
            </a:pPr>
            <a:r>
              <a:rPr lang="ru-RU" sz="1500" b="1" dirty="0" smtClean="0">
                <a:latin typeface="Roboto" panose="020B0604020202020204" charset="0"/>
                <a:ea typeface="Roboto" panose="020B0604020202020204" charset="0"/>
              </a:rPr>
              <a:t>Уникальность и дубликаты</a:t>
            </a:r>
          </a:p>
          <a:p>
            <a:pPr marL="536575" lvl="1" indent="-265113">
              <a:buFont typeface="Arial" panose="020B0604020202020204" pitchFamily="34" charset="0"/>
              <a:buChar char="•"/>
            </a:pPr>
            <a:r>
              <a:rPr lang="ru-RU" sz="1300" i="1" dirty="0" err="1" smtClean="0">
                <a:latin typeface="Roboto" panose="020B0604020202020204" charset="0"/>
                <a:ea typeface="Roboto" panose="020B0604020202020204" charset="0"/>
              </a:rPr>
              <a:t>Failed</a:t>
            </a:r>
            <a:r>
              <a:rPr lang="ru-RU" sz="1300" i="1" dirty="0">
                <a:latin typeface="Roboto" panose="020B0604020202020204" charset="0"/>
                <a:ea typeface="Roboto" panose="020B0604020202020204" charset="0"/>
              </a:rPr>
              <a:t>. 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Обнаружено 41 полная дублирующая </a:t>
            </a:r>
            <a:r>
              <a:rPr lang="ru-RU" sz="1300" dirty="0" smtClean="0">
                <a:latin typeface="Roboto" panose="020B0604020202020204" charset="0"/>
                <a:ea typeface="Roboto" panose="020B0604020202020204" charset="0"/>
              </a:rPr>
              <a:t>запись</a:t>
            </a:r>
          </a:p>
          <a:p>
            <a:pPr marL="342900" indent="-342900">
              <a:buAutoNum type="arabicPeriod"/>
            </a:pPr>
            <a:r>
              <a:rPr lang="ru-RU" sz="1500" b="1" dirty="0" smtClean="0">
                <a:latin typeface="Roboto" panose="020B0604020202020204" charset="0"/>
                <a:ea typeface="Roboto" panose="020B0604020202020204" charset="0"/>
              </a:rPr>
              <a:t>Числовые аномалии и границы</a:t>
            </a:r>
          </a:p>
          <a:p>
            <a:pPr marL="536575" lvl="2" indent="-265113">
              <a:buFont typeface="Arial" panose="020B0604020202020204" pitchFamily="34" charset="0"/>
              <a:buChar char="•"/>
            </a:pPr>
            <a:r>
              <a:rPr lang="ru-RU" sz="1300" i="1" dirty="0" err="1">
                <a:latin typeface="Roboto" panose="020B0604020202020204" charset="0"/>
                <a:ea typeface="Roboto" panose="020B0604020202020204" charset="0"/>
              </a:rPr>
              <a:t>Failed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. 21 запись содержит недопустимые символы (" ", "</a:t>
            </a:r>
            <a:r>
              <a:rPr lang="ru-RU" sz="1300" dirty="0" err="1" smtClean="0">
                <a:latin typeface="Roboto" panose="020B0604020202020204" charset="0"/>
                <a:ea typeface="Roboto" panose="020B0604020202020204" charset="0"/>
              </a:rPr>
              <a:t>Invalid</a:t>
            </a:r>
            <a:r>
              <a:rPr lang="ru-RU" sz="1300" dirty="0" smtClean="0">
                <a:latin typeface="Roboto" panose="020B0604020202020204" charset="0"/>
                <a:ea typeface="Roboto" panose="020B0604020202020204" charset="0"/>
              </a:rPr>
              <a:t>).</a:t>
            </a:r>
          </a:p>
          <a:p>
            <a:pPr marL="342900" indent="-342900">
              <a:buAutoNum type="arabicPeriod"/>
            </a:pPr>
            <a:r>
              <a:rPr lang="ru-RU" sz="1500" b="1" dirty="0">
                <a:latin typeface="Roboto" panose="020B0604020202020204" charset="0"/>
                <a:ea typeface="Roboto" panose="020B0604020202020204" charset="0"/>
              </a:rPr>
              <a:t>Категориальные данные и </a:t>
            </a:r>
            <a:r>
              <a:rPr lang="ru-RU" sz="1500" b="1" dirty="0" smtClean="0">
                <a:latin typeface="Roboto" panose="020B0604020202020204" charset="0"/>
                <a:ea typeface="Roboto" panose="020B0604020202020204" charset="0"/>
              </a:rPr>
              <a:t>бизнес-правила</a:t>
            </a:r>
          </a:p>
          <a:p>
            <a:pPr marL="536575" lvl="1" indent="-265113">
              <a:buFont typeface="Arial" panose="020B0604020202020204" pitchFamily="34" charset="0"/>
              <a:buChar char="•"/>
            </a:pPr>
            <a:r>
              <a:rPr lang="en-US" sz="1300" i="1" dirty="0">
                <a:latin typeface="Roboto" panose="020B0604020202020204" charset="0"/>
                <a:ea typeface="Roboto" panose="020B0604020202020204" charset="0"/>
              </a:rPr>
              <a:t>Failed</a:t>
            </a:r>
            <a:r>
              <a:rPr lang="en-US" sz="1300" dirty="0">
                <a:latin typeface="Roboto" panose="020B0604020202020204" charset="0"/>
                <a:ea typeface="Roboto" panose="020B0604020202020204" charset="0"/>
              </a:rPr>
              <a:t>. 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В колонке </a:t>
            </a:r>
            <a:r>
              <a:rPr lang="en-US" sz="1300" dirty="0" err="1">
                <a:latin typeface="Roboto" panose="020B0604020202020204" charset="0"/>
                <a:ea typeface="Roboto" panose="020B0604020202020204" charset="0"/>
              </a:rPr>
              <a:t>OnlineSecurity</a:t>
            </a:r>
            <a:r>
              <a:rPr lang="en-US" sz="1300" dirty="0">
                <a:latin typeface="Roboto" panose="020B0604020202020204" charset="0"/>
                <a:ea typeface="Roboto" panose="020B0604020202020204" charset="0"/>
              </a:rPr>
              <a:t> 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найдено 2945 значений «</a:t>
            </a:r>
            <a:r>
              <a:rPr lang="en-US" sz="1300" dirty="0">
                <a:latin typeface="Roboto" panose="020B0604020202020204" charset="0"/>
                <a:ea typeface="Roboto" panose="020B0604020202020204" charset="0"/>
              </a:rPr>
              <a:t>No internet service</a:t>
            </a:r>
            <a:r>
              <a:rPr lang="en-US" sz="1300" dirty="0" smtClean="0">
                <a:latin typeface="Roboto" panose="020B0604020202020204" charset="0"/>
                <a:ea typeface="Roboto" panose="020B0604020202020204" charset="0"/>
              </a:rPr>
              <a:t>»</a:t>
            </a:r>
            <a:endParaRPr lang="ru-RU" sz="1300" dirty="0" smtClean="0">
              <a:latin typeface="Roboto" panose="020B0604020202020204" charset="0"/>
              <a:ea typeface="Roboto" panose="020B0604020202020204" charset="0"/>
            </a:endParaRPr>
          </a:p>
          <a:p>
            <a:pPr marL="536575" lvl="1" indent="-265113">
              <a:buFont typeface="Arial" panose="020B0604020202020204" pitchFamily="34" charset="0"/>
              <a:buChar char="•"/>
            </a:pPr>
            <a:r>
              <a:rPr lang="ru-RU" sz="1300" i="1" dirty="0" err="1">
                <a:latin typeface="Roboto" panose="020B0604020202020204" charset="0"/>
                <a:ea typeface="Roboto" panose="020B0604020202020204" charset="0"/>
              </a:rPr>
              <a:t>Failed</a:t>
            </a:r>
            <a:r>
              <a:rPr lang="ru-RU" sz="1300" i="1" dirty="0">
                <a:latin typeface="Roboto" panose="020B0604020202020204" charset="0"/>
                <a:ea typeface="Roboto" panose="020B0604020202020204" charset="0"/>
              </a:rPr>
              <a:t>. 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Найдено 7 нарушений </a:t>
            </a:r>
            <a:r>
              <a:rPr lang="ru-RU" sz="1300" dirty="0" err="1" smtClean="0">
                <a:latin typeface="Roboto" panose="020B0604020202020204" charset="0"/>
                <a:ea typeface="Roboto" panose="020B0604020202020204" charset="0"/>
              </a:rPr>
              <a:t>консистентности</a:t>
            </a:r>
            <a:r>
              <a:rPr lang="ru-RU" sz="1300" dirty="0" smtClean="0">
                <a:latin typeface="Roboto" panose="020B0604020202020204" charset="0"/>
                <a:ea typeface="Roboto" panose="020B0604020202020204" charset="0"/>
              </a:rPr>
              <a:t> - клиенты </a:t>
            </a:r>
            <a:r>
              <a:rPr lang="ru-RU" sz="1300" dirty="0">
                <a:latin typeface="Roboto" panose="020B0604020202020204" charset="0"/>
                <a:ea typeface="Roboto" panose="020B0604020202020204" charset="0"/>
              </a:rPr>
              <a:t>со стажем 0 месяцев имеют зафиксированные </a:t>
            </a:r>
            <a:r>
              <a:rPr lang="ru-RU" sz="1300" dirty="0" smtClean="0">
                <a:latin typeface="Roboto" panose="020B0604020202020204" charset="0"/>
                <a:ea typeface="Roboto" panose="020B0604020202020204" charset="0"/>
              </a:rPr>
              <a:t>затраты.</a:t>
            </a:r>
          </a:p>
          <a:p>
            <a:pPr marL="271462"/>
            <a:endParaRPr lang="ru-RU" sz="1500" b="1" dirty="0">
              <a:latin typeface="Roboto" panose="020B0604020202020204" charset="0"/>
              <a:ea typeface="Roboto" panose="020B0604020202020204" charset="0"/>
            </a:endParaRPr>
          </a:p>
          <a:p>
            <a:pPr indent="269875"/>
            <a:r>
              <a:rPr lang="ru-RU" sz="1300" dirty="0" smtClean="0">
                <a:latin typeface="Roboto" panose="020B0604020202020204" charset="0"/>
                <a:ea typeface="Roboto" panose="020B0604020202020204" charset="0"/>
              </a:rPr>
              <a:t>Полный перечень проверок в файле </a:t>
            </a:r>
            <a:r>
              <a:rPr lang="en-US" sz="1300" i="1" dirty="0">
                <a:latin typeface="Roboto" panose="020B0604020202020204" charset="0"/>
                <a:ea typeface="Roboto" panose="020B0604020202020204" charset="0"/>
              </a:rPr>
              <a:t>soda_scan_results.xlsx</a:t>
            </a:r>
            <a:endParaRPr lang="ru-RU" sz="1300" i="1" dirty="0">
              <a:latin typeface="Roboto" panose="020B0604020202020204" charset="0"/>
              <a:ea typeface="Roboto" panose="020B060402020202020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7186088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83255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3000" dirty="0" smtClean="0"/>
              <a:t>Эффект найденных проблем</a:t>
            </a:r>
            <a:endParaRPr sz="3000" dirty="0"/>
          </a:p>
        </p:txBody>
      </p:sp>
      <p:graphicFrame>
        <p:nvGraphicFramePr>
          <p:cNvPr id="6" name="Google Shape;603;p75"/>
          <p:cNvGraphicFramePr/>
          <p:nvPr>
            <p:extLst>
              <p:ext uri="{D42A27DB-BD31-4B8C-83A1-F6EECF244321}">
                <p14:modId xmlns:p14="http://schemas.microsoft.com/office/powerpoint/2010/main" val="2694299277"/>
              </p:ext>
            </p:extLst>
          </p:nvPr>
        </p:nvGraphicFramePr>
        <p:xfrm>
          <a:off x="500550" y="1163279"/>
          <a:ext cx="7834276" cy="3037730"/>
        </p:xfrm>
        <a:graphic>
          <a:graphicData uri="http://schemas.openxmlformats.org/drawingml/2006/table">
            <a:tbl>
              <a:tblPr>
                <a:noFill/>
                <a:tableStyleId>{29A2813C-73D9-4D50-8B73-B82EC4B9FD58}</a:tableStyleId>
              </a:tblPr>
              <a:tblGrid>
                <a:gridCol w="15139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5028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0700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0610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Категория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Проблема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600" b="1" dirty="0" smtClean="0">
                          <a:solidFill>
                            <a:srgbClr val="3F299A"/>
                          </a:solidFill>
                          <a:latin typeface="Roboto"/>
                          <a:ea typeface="Roboto"/>
                          <a:cs typeface="Roboto"/>
                          <a:sym typeface="Roboto"/>
                        </a:rPr>
                        <a:t>Эффект</a:t>
                      </a:r>
                      <a:endParaRPr sz="1600" b="1" dirty="0">
                        <a:solidFill>
                          <a:srgbClr val="3F299A"/>
                        </a:solidFill>
                        <a:latin typeface="Roboto"/>
                        <a:ea typeface="Roboto"/>
                        <a:cs typeface="Roboto"/>
                        <a:sym typeface="Roboto"/>
                      </a:endParaRPr>
                    </a:p>
                  </a:txBody>
                  <a:tcPr marL="91425" marR="91425" marT="91425" marB="91425" anchor="ctr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chemeClr val="l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 dirty="0" smtClean="0">
                          <a:solidFill>
                            <a:schemeClr val="dk1"/>
                          </a:solidFill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Операционный</a:t>
                      </a:r>
                      <a:endParaRPr sz="1300" dirty="0"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ru" sz="1300" dirty="0" smtClean="0">
                          <a:solidFill>
                            <a:schemeClr val="dk1"/>
                          </a:solidFill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Битые типы данных</a:t>
                      </a:r>
                      <a:endParaRPr sz="1300" dirty="0"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Остановка ETL-</a:t>
                      </a:r>
                      <a:r>
                        <a:rPr lang="ru-RU" sz="1300" dirty="0" err="1" smtClean="0">
                          <a:latin typeface="Roboto" panose="020B0604020202020204" charset="0"/>
                          <a:ea typeface="Roboto" panose="020B0604020202020204" charset="0"/>
                        </a:rPr>
                        <a:t>пайплайна</a:t>
                      </a: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. </a:t>
                      </a:r>
                      <a:endParaRPr lang="en-US" sz="1300" dirty="0" smtClean="0">
                        <a:latin typeface="Roboto" panose="020B0604020202020204" charset="0"/>
                        <a:ea typeface="Roboto" panose="020B060402020202020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Инженеры тратят время на ручной разбор ошибок вместо развития продукта.</a:t>
                      </a:r>
                      <a:endParaRPr sz="1300" dirty="0"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Аналитический</a:t>
                      </a:r>
                      <a:endParaRPr sz="1300" dirty="0"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Дубликаты профилей и заглушки сервисов</a:t>
                      </a:r>
                      <a:endParaRPr sz="1300" dirty="0"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Искажение метрик </a:t>
                      </a:r>
                      <a:r>
                        <a:rPr lang="ru-RU" sz="1300" dirty="0" err="1" smtClean="0">
                          <a:latin typeface="Roboto" panose="020B0604020202020204" charset="0"/>
                          <a:ea typeface="Roboto" panose="020B0604020202020204" charset="0"/>
                        </a:rPr>
                        <a:t>Churn</a:t>
                      </a: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 </a:t>
                      </a:r>
                      <a:r>
                        <a:rPr lang="ru-RU" sz="1300" dirty="0" err="1" smtClean="0">
                          <a:latin typeface="Roboto" panose="020B0604020202020204" charset="0"/>
                          <a:ea typeface="Roboto" panose="020B0604020202020204" charset="0"/>
                        </a:rPr>
                        <a:t>Rate</a:t>
                      </a: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 и проникновения услуг. BI-</a:t>
                      </a:r>
                      <a:r>
                        <a:rPr lang="ru-RU" sz="1300" dirty="0" err="1" smtClean="0">
                          <a:latin typeface="Roboto" panose="020B0604020202020204" charset="0"/>
                          <a:ea typeface="Roboto" panose="020B0604020202020204" charset="0"/>
                        </a:rPr>
                        <a:t>дашборды</a:t>
                      </a: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 показывают ложную картину бизнеса.</a:t>
                      </a: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3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Финансовый</a:t>
                      </a:r>
                      <a:endParaRPr sz="1300" dirty="0"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Нарушение</a:t>
                      </a:r>
                      <a:r>
                        <a:rPr lang="ru-RU" sz="1300" baseline="0" dirty="0" smtClean="0"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baseline="0" dirty="0" err="1" smtClean="0"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консистентности</a:t>
                      </a:r>
                      <a:r>
                        <a:rPr lang="ru-RU" sz="1300" baseline="0" dirty="0" smtClean="0"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 </a:t>
                      </a:r>
                      <a:r>
                        <a:rPr lang="ru-RU" sz="1300" baseline="0" dirty="0" err="1" smtClean="0"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биллинга</a:t>
                      </a:r>
                      <a:endParaRPr sz="1300" dirty="0"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3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Прямая переплата за техподдержку новым клиентам и неэффективный маркетинг.</a:t>
                      </a:r>
                      <a:endParaRPr sz="1300" dirty="0"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91425" marR="91425" marT="91425" marB="91425">
                    <a:lnL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D9D9D9"/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6154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41"/>
          <p:cNvSpPr txBox="1">
            <a:spLocks noGrp="1"/>
          </p:cNvSpPr>
          <p:nvPr>
            <p:ph type="title"/>
          </p:nvPr>
        </p:nvSpPr>
        <p:spPr>
          <a:xfrm>
            <a:off x="500550" y="330725"/>
            <a:ext cx="8520600" cy="54081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ru-RU" sz="2800" dirty="0"/>
              <a:t>Детальный разбор влияния на </a:t>
            </a:r>
            <a:r>
              <a:rPr lang="ru-RU" sz="2800" dirty="0" smtClean="0"/>
              <a:t>бизнес </a:t>
            </a:r>
            <a:endParaRPr lang="ru-RU" sz="2800" dirty="0"/>
          </a:p>
        </p:txBody>
      </p:sp>
      <p:sp>
        <p:nvSpPr>
          <p:cNvPr id="3" name="TextBox 2"/>
          <p:cNvSpPr txBox="1"/>
          <p:nvPr/>
        </p:nvSpPr>
        <p:spPr>
          <a:xfrm>
            <a:off x="321470" y="871539"/>
            <a:ext cx="7958137" cy="4324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AutoNum type="arabicPeriod"/>
            </a:pPr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Полные 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дубликаты записей (41 строка</a:t>
            </a:r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)</a:t>
            </a:r>
          </a:p>
          <a:p>
            <a:pPr lvl="1"/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Бизнес-эффект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: Точность прогноза падает. Маркетологи начинают кампанию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удержания. Из-за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дублей лояльному клиенту приходит агрессивное предложение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скидки, что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вызывает раздражение и провоцирует реальный отток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.</a:t>
            </a:r>
          </a:p>
          <a:p>
            <a:pPr lvl="1"/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Деньги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: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Затраты на лишние SMS/</a:t>
            </a:r>
            <a:r>
              <a:rPr lang="ru-RU" sz="1100" dirty="0" err="1">
                <a:latin typeface="Roboto" panose="020B0604020202020204" charset="0"/>
                <a:ea typeface="Roboto" panose="020B0604020202020204" charset="0"/>
              </a:rPr>
              <a:t>Push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-уведомления + потеря LTV из-за негативного опыта клиента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.</a:t>
            </a:r>
          </a:p>
          <a:p>
            <a:pPr lvl="1"/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Оценочно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: ~50 000 – 70 000 руб. на одну крупную рассылку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.</a:t>
            </a:r>
          </a:p>
          <a:p>
            <a:pPr lvl="1"/>
            <a:endParaRPr lang="ru-RU" sz="1100" dirty="0" smtClean="0">
              <a:latin typeface="Roboto" panose="020B0604020202020204" charset="0"/>
              <a:ea typeface="Roboto" panose="020B0604020202020204" charset="0"/>
            </a:endParaRPr>
          </a:p>
          <a:p>
            <a:pPr marL="228600" indent="-228600">
              <a:buFont typeface="+mj-lt"/>
              <a:buAutoNum type="arabicPeriod"/>
            </a:pPr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Некорректный 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тип данных в </a:t>
            </a:r>
            <a:r>
              <a:rPr lang="ru-RU" sz="1100" b="1" dirty="0" err="1">
                <a:latin typeface="Roboto" panose="020B0604020202020204" charset="0"/>
                <a:ea typeface="Roboto" panose="020B0604020202020204" charset="0"/>
              </a:rPr>
              <a:t>TotalCharges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 (19 пустых значений + 2 текстовых</a:t>
            </a:r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)</a:t>
            </a:r>
          </a:p>
          <a:p>
            <a:pPr lvl="1"/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Бизнес-эффект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: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Резко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падает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показатель средней выручки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на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пользователя на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величину затрат новых клиентов.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Принимается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решение экстренно снизить цены на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тарифы</a:t>
            </a:r>
          </a:p>
          <a:p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Деньги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: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Убытки от необоснованного снижения цен или неверного планирования бюджета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.</a:t>
            </a:r>
          </a:p>
          <a:p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Оценочно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: упущенная выгода от 100 000 руб./месяц при масштабировании ошибки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.</a:t>
            </a:r>
          </a:p>
          <a:p>
            <a:endParaRPr lang="ru-RU" sz="1100" dirty="0" smtClean="0">
              <a:latin typeface="Roboto" panose="020B0604020202020204" charset="0"/>
              <a:ea typeface="Roboto" panose="020B0604020202020204" charset="0"/>
            </a:endParaRPr>
          </a:p>
          <a:p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3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. Значения-заглушки «</a:t>
            </a:r>
            <a:r>
              <a:rPr lang="ru-RU" sz="1100" b="1" dirty="0" err="1">
                <a:latin typeface="Roboto" panose="020B0604020202020204" charset="0"/>
                <a:ea typeface="Roboto" panose="020B0604020202020204" charset="0"/>
              </a:rPr>
              <a:t>No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 </a:t>
            </a:r>
            <a:r>
              <a:rPr lang="ru-RU" sz="1100" b="1" dirty="0" err="1">
                <a:latin typeface="Roboto" panose="020B0604020202020204" charset="0"/>
                <a:ea typeface="Roboto" panose="020B0604020202020204" charset="0"/>
              </a:rPr>
              <a:t>internet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 </a:t>
            </a:r>
            <a:r>
              <a:rPr lang="ru-RU" sz="1100" b="1" dirty="0" err="1" smtClean="0">
                <a:latin typeface="Roboto" panose="020B0604020202020204" charset="0"/>
                <a:ea typeface="Roboto" panose="020B0604020202020204" charset="0"/>
              </a:rPr>
              <a:t>service</a:t>
            </a:r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»</a:t>
            </a:r>
          </a:p>
          <a:p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Бизнес-эффект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: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Перекрестные продажи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работают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некорректно. Система предлагает пользователям тарифа без интернета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подключить облачную услугу.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Конверсия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снижается,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бюджет на продвижение дополнительных услуг сгорает впустую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.</a:t>
            </a:r>
          </a:p>
          <a:p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Деньги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: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С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тоимость привлечения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доп. услуг растет, ROI маркетинга становится отрицательным. </a:t>
            </a:r>
            <a:endParaRPr lang="ru-RU" sz="1100" dirty="0" smtClean="0">
              <a:latin typeface="Roboto" panose="020B0604020202020204" charset="0"/>
              <a:ea typeface="Roboto" panose="020B0604020202020204" charset="0"/>
            </a:endParaRPr>
          </a:p>
          <a:p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Оценочно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: ~150 000 руб./квартал неэффективных расходов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.</a:t>
            </a:r>
          </a:p>
          <a:p>
            <a:endParaRPr lang="ru-RU" sz="1100" dirty="0" smtClean="0">
              <a:latin typeface="Roboto" panose="020B0604020202020204" charset="0"/>
              <a:ea typeface="Roboto" panose="020B0604020202020204" charset="0"/>
            </a:endParaRPr>
          </a:p>
          <a:p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4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. Нарушение </a:t>
            </a:r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логики( </a:t>
            </a:r>
            <a:r>
              <a:rPr lang="ru-RU" sz="1100" b="1" dirty="0" err="1">
                <a:latin typeface="Roboto" panose="020B0604020202020204" charset="0"/>
                <a:ea typeface="Roboto" panose="020B0604020202020204" charset="0"/>
              </a:rPr>
              <a:t>Tenure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 = 0, но </a:t>
            </a:r>
            <a:r>
              <a:rPr lang="ru-RU" sz="1100" b="1" dirty="0" err="1">
                <a:latin typeface="Roboto" panose="020B0604020202020204" charset="0"/>
                <a:ea typeface="Roboto" panose="020B0604020202020204" charset="0"/>
              </a:rPr>
              <a:t>TotalCharges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 &gt; </a:t>
            </a:r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0)</a:t>
            </a:r>
          </a:p>
          <a:p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Бизнес-эффект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: Отдел взыскания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получает задачу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«дозвониться должнику». </a:t>
            </a:r>
            <a:r>
              <a:rPr lang="ru-RU" sz="1100" dirty="0" err="1">
                <a:latin typeface="Roboto" panose="020B0604020202020204" charset="0"/>
                <a:ea typeface="Roboto" panose="020B0604020202020204" charset="0"/>
              </a:rPr>
              <a:t>Колл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-центр звонит новому клиенту, который только что подключился и даже еще не пользовался связью, требуя оплаты долга. </a:t>
            </a:r>
            <a:endParaRPr lang="ru-RU" sz="1100" dirty="0" smtClean="0">
              <a:latin typeface="Roboto" panose="020B0604020202020204" charset="0"/>
              <a:ea typeface="Roboto" panose="020B0604020202020204" charset="0"/>
            </a:endParaRPr>
          </a:p>
          <a:p>
            <a:r>
              <a:rPr lang="ru-RU" sz="1100" b="1" dirty="0" smtClean="0">
                <a:latin typeface="Roboto" panose="020B0604020202020204" charset="0"/>
                <a:ea typeface="Roboto" panose="020B0604020202020204" charset="0"/>
              </a:rPr>
              <a:t>Деньги</a:t>
            </a:r>
            <a:r>
              <a:rPr lang="ru-RU" sz="1100" b="1" dirty="0">
                <a:latin typeface="Roboto" panose="020B0604020202020204" charset="0"/>
                <a:ea typeface="Roboto" panose="020B0604020202020204" charset="0"/>
              </a:rPr>
              <a:t>: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Рост показателя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оттока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в первый месяц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подключения клиента. Стоимость 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привлечения одного такого клиента (~800–1000 руб.) списывается в </a:t>
            </a:r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убыток из-за быстрого отключения.</a:t>
            </a:r>
          </a:p>
          <a:p>
            <a:r>
              <a:rPr lang="ru-RU" sz="1100" dirty="0" smtClean="0">
                <a:latin typeface="Roboto" panose="020B0604020202020204" charset="0"/>
                <a:ea typeface="Roboto" panose="020B0604020202020204" charset="0"/>
              </a:rPr>
              <a:t>Оценочно</a:t>
            </a:r>
            <a:r>
              <a:rPr lang="ru-RU" sz="1100" dirty="0">
                <a:latin typeface="Roboto" panose="020B0604020202020204" charset="0"/>
                <a:ea typeface="Roboto" panose="020B0604020202020204" charset="0"/>
              </a:rPr>
              <a:t>: ~5 000 – 7 000 руб. прямых потерь на текущей выборке.</a:t>
            </a:r>
          </a:p>
        </p:txBody>
      </p:sp>
    </p:spTree>
    <p:extLst>
      <p:ext uri="{BB962C8B-B14F-4D97-AF65-F5344CB8AC3E}">
        <p14:creationId xmlns:p14="http://schemas.microsoft.com/office/powerpoint/2010/main" val="87403091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42"/>
          <p:cNvSpPr txBox="1">
            <a:spLocks noGrp="1"/>
          </p:cNvSpPr>
          <p:nvPr>
            <p:ph type="title"/>
          </p:nvPr>
        </p:nvSpPr>
        <p:spPr>
          <a:xfrm>
            <a:off x="500550" y="330724"/>
            <a:ext cx="8520600" cy="1095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3000" dirty="0"/>
              <a:t>Выводы</a:t>
            </a:r>
            <a:endParaRPr sz="300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3000" dirty="0"/>
          </a:p>
        </p:txBody>
      </p:sp>
      <p:graphicFrame>
        <p:nvGraphicFramePr>
          <p:cNvPr id="213" name="Google Shape;213;p42"/>
          <p:cNvGraphicFramePr/>
          <p:nvPr>
            <p:extLst>
              <p:ext uri="{D42A27DB-BD31-4B8C-83A1-F6EECF244321}">
                <p14:modId xmlns:p14="http://schemas.microsoft.com/office/powerpoint/2010/main" val="626831146"/>
              </p:ext>
            </p:extLst>
          </p:nvPr>
        </p:nvGraphicFramePr>
        <p:xfrm>
          <a:off x="968266" y="1127193"/>
          <a:ext cx="7239000" cy="4411860"/>
        </p:xfrm>
        <a:graphic>
          <a:graphicData uri="http://schemas.openxmlformats.org/drawingml/2006/table">
            <a:tbl>
              <a:tblPr>
                <a:noFill/>
                <a:tableStyleId>{29A2813C-73D9-4D50-8B73-B82EC4B9FD58}</a:tableStyleId>
              </a:tblPr>
              <a:tblGrid>
                <a:gridCol w="489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495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981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1.</a:t>
                      </a:r>
                      <a:endParaRPr sz="1500" b="1">
                        <a:solidFill>
                          <a:srgbClr val="3F299A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Проект позволил достичь цели: создан работающий прототип системы мониторинга качества данных.</a:t>
                      </a:r>
                      <a:endParaRPr sz="1500" dirty="0">
                        <a:solidFill>
                          <a:srgbClr val="9857F3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9818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>
                          <a:solidFill>
                            <a:srgbClr val="3F299A"/>
                          </a:solidFill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2.</a:t>
                      </a:r>
                      <a:endParaRPr sz="1500" b="1">
                        <a:solidFill>
                          <a:srgbClr val="3F299A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Сложности возникли с настройкой интеграции между </a:t>
                      </a:r>
                      <a:r>
                        <a:rPr lang="ru-RU" sz="1500" dirty="0" err="1" smtClean="0">
                          <a:latin typeface="Roboto" panose="020B0604020202020204" charset="0"/>
                          <a:ea typeface="Roboto" panose="020B0604020202020204" charset="0"/>
                        </a:rPr>
                        <a:t>Airflow</a:t>
                      </a: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 и BI-системой;</a:t>
                      </a:r>
                      <a:r>
                        <a:rPr lang="en-US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 </a:t>
                      </a: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потребовалась база данных </a:t>
                      </a:r>
                      <a:r>
                        <a:rPr lang="en-US" sz="1500" dirty="0" err="1" smtClean="0">
                          <a:latin typeface="Roboto" panose="020B0604020202020204" charset="0"/>
                          <a:ea typeface="Roboto" panose="020B0604020202020204" charset="0"/>
                        </a:rPr>
                        <a:t>Postgres</a:t>
                      </a: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.</a:t>
                      </a:r>
                      <a:endParaRPr sz="1500" dirty="0">
                        <a:solidFill>
                          <a:srgbClr val="9857F3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31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 dirty="0">
                          <a:solidFill>
                            <a:srgbClr val="3F299A"/>
                          </a:solidFill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3</a:t>
                      </a:r>
                      <a:r>
                        <a:rPr lang="ru" sz="1500" b="1" dirty="0" smtClean="0">
                          <a:solidFill>
                            <a:srgbClr val="3F299A"/>
                          </a:solidFill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500" b="1" dirty="0" smtClean="0">
                        <a:solidFill>
                          <a:srgbClr val="3F299A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500" b="1" dirty="0" smtClean="0">
                        <a:solidFill>
                          <a:srgbClr val="3F299A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500" b="1" dirty="0" smtClean="0">
                        <a:solidFill>
                          <a:srgbClr val="3F299A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 dirty="0" smtClean="0">
                          <a:solidFill>
                            <a:srgbClr val="3F299A"/>
                          </a:solidFill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4.</a:t>
                      </a: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500" b="1" dirty="0" smtClean="0">
                        <a:solidFill>
                          <a:srgbClr val="3F299A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lang="ru" sz="1500" b="1" dirty="0" smtClean="0">
                        <a:solidFill>
                          <a:srgbClr val="3F299A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ru" sz="1500" b="1" dirty="0" smtClean="0">
                          <a:solidFill>
                            <a:srgbClr val="3F299A"/>
                          </a:solidFill>
                          <a:latin typeface="Roboto" panose="020B0604020202020204" charset="0"/>
                          <a:ea typeface="Roboto" panose="020B0604020202020204" charset="0"/>
                          <a:cs typeface="Roboto"/>
                          <a:sym typeface="Roboto"/>
                        </a:rPr>
                        <a:t>5.</a:t>
                      </a: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Работа заняла около месяца плотной загрузки (анализ данных, разработка </a:t>
                      </a:r>
                      <a:r>
                        <a:rPr lang="ru-RU" sz="1500" dirty="0" err="1" smtClean="0">
                          <a:latin typeface="Roboto" panose="020B0604020202020204" charset="0"/>
                          <a:ea typeface="Roboto" panose="020B0604020202020204" charset="0"/>
                        </a:rPr>
                        <a:t>пайплайна</a:t>
                      </a: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, настройка базы</a:t>
                      </a:r>
                      <a:r>
                        <a:rPr lang="ru-RU" sz="1500" baseline="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 данных</a:t>
                      </a: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ru-RU" sz="1500" dirty="0" smtClean="0">
                        <a:solidFill>
                          <a:srgbClr val="9857F3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Полезность проекта = </a:t>
                      </a:r>
                      <a:r>
                        <a:rPr lang="ru-RU" sz="1500" b="1" dirty="0" smtClean="0">
                          <a:latin typeface="Roboto" panose="020B0604020202020204" charset="0"/>
                          <a:ea typeface="Roboto" panose="020B0604020202020204" charset="0"/>
                        </a:rPr>
                        <a:t>9/10</a:t>
                      </a: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. Получен бесценный опыт построения систем DQ «с нуля».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lang="ru-RU" sz="1500" dirty="0" smtClean="0">
                        <a:latin typeface="Roboto" panose="020B0604020202020204" charset="0"/>
                        <a:ea typeface="Roboto" panose="020B0604020202020204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Планирую развивать навыки в области </a:t>
                      </a:r>
                      <a:r>
                        <a:rPr lang="ru-RU" sz="1500" dirty="0" err="1" smtClean="0">
                          <a:latin typeface="Roboto" panose="020B0604020202020204" charset="0"/>
                          <a:ea typeface="Roboto" panose="020B0604020202020204" charset="0"/>
                        </a:rPr>
                        <a:t>Data</a:t>
                      </a: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 </a:t>
                      </a:r>
                      <a:r>
                        <a:rPr lang="ru-RU" sz="1500" dirty="0" err="1" smtClean="0">
                          <a:latin typeface="Roboto" panose="020B0604020202020204" charset="0"/>
                          <a:ea typeface="Roboto" panose="020B0604020202020204" charset="0"/>
                        </a:rPr>
                        <a:t>Contracts</a:t>
                      </a:r>
                      <a:r>
                        <a:rPr lang="ru-RU" sz="1500" dirty="0" smtClean="0">
                          <a:latin typeface="Roboto" panose="020B0604020202020204" charset="0"/>
                          <a:ea typeface="Roboto" panose="020B0604020202020204" charset="0"/>
                        </a:rPr>
                        <a:t> и внедрять эту практику у себя на работе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endParaRPr sz="1500" dirty="0">
                        <a:solidFill>
                          <a:srgbClr val="9857F3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45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500">
                        <a:latin typeface="Roboto" panose="020B0604020202020204" charset="0"/>
                        <a:ea typeface="Roboto" panose="020B0604020202020204" charset="0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lvl="0" indent="0" algn="l" rtl="0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500" dirty="0">
                        <a:solidFill>
                          <a:srgbClr val="9857F3"/>
                        </a:solidFill>
                        <a:latin typeface="Roboto" panose="020B0604020202020204" charset="0"/>
                        <a:ea typeface="Roboto" panose="020B0604020202020204" charset="0"/>
                        <a:cs typeface="Roboto"/>
                        <a:sym typeface="Roboto"/>
                      </a:endParaRPr>
                    </a:p>
                  </a:txBody>
                  <a:tcPr marL="198000" marR="91425" marT="91425" marB="91425">
                    <a:lnL w="9525" cap="flat" cmpd="sng">
                      <a:solidFill>
                        <a:srgbClr val="FFFFFF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BFC1F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6361937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1" name="Google Shape;221;p4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2" name="Google Shape;222;p43"/>
          <p:cNvSpPr txBox="1"/>
          <p:nvPr/>
        </p:nvSpPr>
        <p:spPr>
          <a:xfrm>
            <a:off x="387050" y="1844625"/>
            <a:ext cx="7584300" cy="73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" sz="40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Вопросы и рекомендации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3" name="Google Shape;223;p43"/>
          <p:cNvSpPr txBox="1"/>
          <p:nvPr/>
        </p:nvSpPr>
        <p:spPr>
          <a:xfrm>
            <a:off x="1214696" y="3061975"/>
            <a:ext cx="19275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есть вопросы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4" name="Google Shape;224;p43"/>
          <p:cNvSpPr txBox="1"/>
          <p:nvPr/>
        </p:nvSpPr>
        <p:spPr>
          <a:xfrm>
            <a:off x="4934996" y="3061975"/>
            <a:ext cx="2145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ru" sz="15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если вопросов нет</a:t>
            </a:r>
            <a:endParaRPr sz="15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5" name="Google Shape;225;p43"/>
          <p:cNvSpPr txBox="1"/>
          <p:nvPr/>
        </p:nvSpPr>
        <p:spPr>
          <a:xfrm>
            <a:off x="7230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+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226" name="Google Shape;226;p43"/>
          <p:cNvSpPr txBox="1"/>
          <p:nvPr/>
        </p:nvSpPr>
        <p:spPr>
          <a:xfrm>
            <a:off x="4443300" y="2846425"/>
            <a:ext cx="491700" cy="84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4300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– </a:t>
            </a:r>
            <a:endParaRPr sz="4300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4" name="Google Shape;234;p4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21602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35" name="Google Shape;235;p44"/>
          <p:cNvSpPr txBox="1">
            <a:spLocks noGrp="1"/>
          </p:cNvSpPr>
          <p:nvPr>
            <p:ph type="title" idx="4294967295"/>
          </p:nvPr>
        </p:nvSpPr>
        <p:spPr>
          <a:xfrm>
            <a:off x="629000" y="1932525"/>
            <a:ext cx="7295100" cy="1956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5000">
                <a:solidFill>
                  <a:schemeClr val="lt1"/>
                </a:solidFill>
              </a:rPr>
              <a:t>Спасибо за внимание!</a:t>
            </a:r>
            <a:endParaRPr sz="5000">
              <a:solidFill>
                <a:schemeClr val="lt1"/>
              </a:solidFill>
            </a:endParaRPr>
          </a:p>
        </p:txBody>
      </p:sp>
      <p:pic>
        <p:nvPicPr>
          <p:cNvPr id="236" name="Google Shape;236;p44" title="marker-graduating-cap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727300" y="231871"/>
            <a:ext cx="2270875" cy="3042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1" name="Google Shape;241;p45" title="ролик_об_отусе_blue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0"/>
            <a:ext cx="9144018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4" name="Google Shape;614;p7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92"/>
            <a:ext cx="9144003" cy="5103318"/>
          </a:xfrm>
          <a:prstGeom prst="rect">
            <a:avLst/>
          </a:prstGeom>
          <a:noFill/>
          <a:ln>
            <a:noFill/>
          </a:ln>
        </p:spPr>
      </p:pic>
      <p:sp>
        <p:nvSpPr>
          <p:cNvPr id="615" name="Google Shape;615;p77"/>
          <p:cNvSpPr txBox="1"/>
          <p:nvPr/>
        </p:nvSpPr>
        <p:spPr>
          <a:xfrm>
            <a:off x="720000" y="696425"/>
            <a:ext cx="7130700" cy="315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Единственно верного 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решения не существует. 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Хотя существует </a:t>
            </a:r>
            <a:endParaRPr sz="45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" sz="45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много неверных.</a:t>
            </a:r>
            <a:endParaRPr sz="5000" b="1">
              <a:solidFill>
                <a:schemeClr val="lt1"/>
              </a:solidFill>
              <a:latin typeface="Roboto"/>
              <a:ea typeface="Roboto"/>
              <a:cs typeface="Roboto"/>
              <a:sym typeface="Roboto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1A1A1A"/>
              </a:buClr>
              <a:buSzPts val="1900"/>
              <a:buFont typeface="Roboto"/>
              <a:buNone/>
            </a:pPr>
            <a:endParaRPr sz="2500">
              <a:solidFill>
                <a:schemeClr val="lt1"/>
              </a:solidFill>
              <a:latin typeface="Roboto Medium"/>
              <a:ea typeface="Roboto Medium"/>
              <a:cs typeface="Roboto Medium"/>
              <a:sym typeface="Roboto Medium"/>
            </a:endParaRPr>
          </a:p>
        </p:txBody>
      </p:sp>
      <p:sp>
        <p:nvSpPr>
          <p:cNvPr id="616" name="Google Shape;616;p77"/>
          <p:cNvSpPr txBox="1"/>
          <p:nvPr/>
        </p:nvSpPr>
        <p:spPr>
          <a:xfrm>
            <a:off x="5527975" y="3851825"/>
            <a:ext cx="34164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" sz="2800" b="1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rPr>
              <a:t>Дэвид Акин, NASA</a:t>
            </a:r>
            <a:endParaRPr sz="100"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6402BA"/>
      </a:dk2>
      <a:lt2>
        <a:srgbClr val="EEEEEE"/>
      </a:lt2>
      <a:accent1>
        <a:srgbClr val="7629BA"/>
      </a:accent1>
      <a:accent2>
        <a:srgbClr val="8B8EE3"/>
      </a:accent2>
      <a:accent3>
        <a:srgbClr val="BFC1F0"/>
      </a:accent3>
      <a:accent4>
        <a:srgbClr val="FFAB40"/>
      </a:accent4>
      <a:accent5>
        <a:srgbClr val="0097A7"/>
      </a:accent5>
      <a:accent6>
        <a:srgbClr val="EEFF41"/>
      </a:accent6>
      <a:hlink>
        <a:srgbClr val="8B8EE3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Светлая тема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3867</TotalTime>
  <Words>795</Words>
  <Application>Microsoft Office PowerPoint</Application>
  <PresentationFormat>Экран (16:9)</PresentationFormat>
  <Paragraphs>134</Paragraphs>
  <Slides>17</Slides>
  <Notes>17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3</vt:i4>
      </vt:variant>
      <vt:variant>
        <vt:lpstr>Заголовки слайдов</vt:lpstr>
      </vt:variant>
      <vt:variant>
        <vt:i4>17</vt:i4>
      </vt:variant>
    </vt:vector>
  </HeadingPairs>
  <TitlesOfParts>
    <vt:vector size="24" baseType="lpstr">
      <vt:lpstr>Arial</vt:lpstr>
      <vt:lpstr>Roboto Medium</vt:lpstr>
      <vt:lpstr>Courier New</vt:lpstr>
      <vt:lpstr>Roboto</vt:lpstr>
      <vt:lpstr>Светлая тема</vt:lpstr>
      <vt:lpstr>Светлая тема</vt:lpstr>
      <vt:lpstr>Светлая тема</vt:lpstr>
      <vt:lpstr>Презентация PowerPoint</vt:lpstr>
      <vt:lpstr>Меня хорошо видно &amp; слышно?</vt:lpstr>
      <vt:lpstr>Защита проекта Тема: Сквозной аудит качества данных в домене Customer 360    </vt:lpstr>
      <vt:lpstr>План защиты</vt:lpstr>
      <vt:lpstr>Презентация PowerPoint</vt:lpstr>
      <vt:lpstr>Какие технологии использовались </vt:lpstr>
      <vt:lpstr>Проект</vt:lpstr>
      <vt:lpstr>DAG Airflow для выполнения DQ-задач</vt:lpstr>
      <vt:lpstr>Дашборд с метриками качества </vt:lpstr>
      <vt:lpstr>Результаты проверок</vt:lpstr>
      <vt:lpstr>Эффект найденных проблем</vt:lpstr>
      <vt:lpstr>Детальный разбор влияния на бизнес </vt:lpstr>
      <vt:lpstr>Выводы </vt:lpstr>
      <vt:lpstr>Презентация PowerPoint</vt:lpstr>
      <vt:lpstr>Спасибо за внимание!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cp:lastModifiedBy>vln</cp:lastModifiedBy>
  <cp:revision>27</cp:revision>
  <dcterms:modified xsi:type="dcterms:W3CDTF">2026-09-24T07:06:46Z</dcterms:modified>
</cp:coreProperties>
</file>